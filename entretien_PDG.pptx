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1" autoAdjust="0"/>
    <p:restoredTop sz="94610"/>
  </p:normalViewPr>
  <p:slideViewPr>
    <p:cSldViewPr snapToGrid="0" snapToObjects="1">
      <p:cViewPr>
        <p:scale>
          <a:sx n="92" d="100"/>
          <a:sy n="92" d="100"/>
        </p:scale>
        <p:origin x="24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8326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prestation proposée à Verisure porte sur une vue complémentaire des équipements du logement. Elle n’intervient ni sur l’armement de l’alarme ni sur la télésurveillance. La version initiale couvre quatre types d’appareils en lecture seule, sans image ni historique des états. L’horizon retenu est de 24 semaines, soit environ cinq mois et demi, depuis le lancement jusqu’à la mise en service. Le dossier approfondit RGPD-01, afin de relier le besoin, les choix techniques et les preuves de validation. Les accords fournisseur et contractuels restent à obtenir ; aucun partenariat signé ni aucun test réussi ne sont présumés.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Cycle en V est retenu pour un périmètre défini et testable. Sa force est de relier chaque niveau de conception au niveau de vérification correspondant. Il ne garantit pas l’absence de changement : une nouvelle demande doit être examinée avec ses impacts sur les données, les risques, la charge et les tests. La revue de fin S4 confirme le besoin et les dépendances ; celle de fin S8 confirme l’architecture et les règles avant réalisation. Des points hebdomadaires et des comités mensuels maintiennent le dialogue. Une extension vers la vidéo reste une demande distincte et ne consomme pas la réserve de corrections. Le budget est consolidé au cadrage, sur les charges et les devis réels.
[Sources]
La Plateforme - KickOff : Cycle en V, pages 7-19 et 23-29.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branche descendante précise progressivement le besoin : exigences, analyse, conception générale puis détaillée. La préparation des tests commence avec ces livrables : recette et système en S3-S4, intégration en S5-S6, unitaires en S7-S8. La réalisation occupe S9-S14, environnements compris. Les tests unitaires accompagnent le code ; l’intégration est prévue en S15-S16, le système en S17-S18, les corrections et la non-régression en S19-S20, puis la recette en S21-S22. Les traits horizontaux expriment la correspondance entre conception et preuve attendue, non un passage direct sans réalisation.
[Sources]
La Plateforme - KickOff : Cycle en V, pages 7-19 et 23-29.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architecture est proposée pour notre prestation ; elle ne décrit pas les infrastructures internes de Verisure. Notre serveur initie les appels HTTPS vers une interface fournisseur autorisée. Le navigateur du client ouvre une connexion entrante vers notre passerelle HTTPS. La base et le serveur applicatif restent en zone privée, et les secrets ne sont jamais envoyés au navigateur. Aucun port supplémentaire n’est à ouvrir chez l’habitant dans ce schéma. La page Data Act prévoit des possibilités de partage mais ne fournit pas le contrat technique détaillé de l’API attendue. Cette dépendance est instruite en S1-S4. Un simulateur sert au développement ; l’intégration fournisseur doit ensuite être vérifiée sur un accès d’essai autorisé. Sans cet accès, la qualification de la liaison est bloquée.
[Sources]
https://www.verisure.fr/data-act
https://www.cnil.fr/fr/securite-api-interfaces-de-programmation-applicative
https://www.cnil.fr/fr/securite-proteger-le-reseau-informatique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RGPD-01 est déclinée en cinq critères observables. Le chiffrement protège les échanges et le stockage, mais ne décide ni de la finalité, ni des destinataires, ni des durées de conservation. Chaque critère est relié à des tests dans le dossier. Le refus d’accès au foyer B avec une session A illustre ce lien. Les huit tests de référence ne valent pas audit global de conformité : ils sont complétés par les validations contractuelles, légales et organisationnelles requises avant la mise en service. Les responsabilités et la base légale sont confirmées avec Verisure ; elles ne sont pas déduites du simple choix d’un serveur privé.
[Sources]
https://www.cnil.fr/fr/reglement-europeen-protection-donnees/chapitre2
https://www.cnil.fr/fr/reglement-europeen-protection-donnees/chapitre3
https://www.cnil.fr/fr/reglement-europeen-protection-donnees/chapitre4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planning propose 24 semaines, soit environ cinq mois et demi. S1-S4 traitent le cadrage, RGPD-01 et les accords fournisseur. S5-S8 traitent l’architecture, les maquettes et les règles. Les tests sont préparés pendant ces phases. La réalisation couvre S9-S14, avec les tests unitaires au fil du code. L’intégration se déroule en S15-S16, le système en S17-S18 et les corrections en S19-S20. La recette de S21-S22 conditionne la mise en service de S23-S24. Les barres représentent des fenêtres de travail, pas des charges à plein temps. Les dates sont relatives au lancement et devront être confirmées avec les disponibilités et le contrat.
[Sources]
La Plateforme - KickOff : Cycle en V, pages 7-19 et 23-29.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direction est invitée à approuver le périmètre, le planning de 24 semaines et les compétences nécessaires. Le premier jalon de fin S4 confirme notamment la faisabilité fournisseur et le cadre de traitement. Le deuxième, fin S8, autorise la réalisation sur la base d’une conception et de tests préparés. La recette est attendue en S21-S22 ; la mise en service en S23-S24 ne peut suivre qu’après levée des conditions RGPD et sécurité. Une fuite entre foyers ou une anomalie bloquante interdit l’ouverture. Le support se poursuit après S24. Les dates sont une proposition de planification et non des validations déjà obtenues.
[Sources]
La Plateforme - KickOff : Cycle en V, pages 7-19 et 23-29.
https://www.cnil.fr/fr/reglement-europeen-protection-donnees/chapitre4
https://www.verisure.fr/data-act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txBody>
          <a:bodyPr/>
          <a:lstStyle/>
          <a:p>
            <a:endParaRPr lang="fr-FR"/>
          </a:p>
        </p:txBody>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kern="0" spc="130" dirty="0">
                <a:solidFill>
                  <a:srgbClr val="5B6770"/>
                </a:solidFill>
                <a:latin typeface="Arial" pitchFamily="34" charset="0"/>
                <a:ea typeface="Arial" pitchFamily="34" charset="-122"/>
                <a:cs typeface="Arial" pitchFamily="34" charset="-120"/>
              </a:rPr>
              <a:t>VERISURE | ENTRETIEN AVEC LE PDG</a:t>
            </a:r>
            <a:endParaRPr lang="fr-FR" sz="1100" dirty="0"/>
          </a:p>
        </p:txBody>
      </p:sp>
      <p:sp>
        <p:nvSpPr>
          <p:cNvPr id="4" name="Text 2"/>
          <p:cNvSpPr/>
          <p:nvPr/>
        </p:nvSpPr>
        <p:spPr>
          <a:xfrm>
            <a:off x="548640" y="822960"/>
            <a:ext cx="11064240" cy="9509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3000" b="1" dirty="0">
                <a:solidFill>
                  <a:srgbClr val="203847"/>
                </a:solidFill>
                <a:latin typeface="Arial" pitchFamily="34" charset="0"/>
                <a:ea typeface="Arial" pitchFamily="34" charset="-122"/>
                <a:cs typeface="Arial" pitchFamily="34" charset="-120"/>
              </a:rPr>
              <a:t>Un tableau de bord connecté,</a:t>
            </a:r>
            <a:endParaRPr lang="fr-FR" sz="3000" dirty="0"/>
          </a:p>
          <a:p>
            <a:pPr marL="0" indent="0" algn="l">
              <a:buNone/>
            </a:pPr>
            <a:r>
              <a:rPr lang="fr-FR" altLang="en-US" sz="3000" b="1" dirty="0">
                <a:solidFill>
                  <a:srgbClr val="203847"/>
                </a:solidFill>
                <a:latin typeface="Arial" pitchFamily="34" charset="0"/>
                <a:ea typeface="Arial" pitchFamily="34" charset="-122"/>
                <a:cs typeface="Arial" pitchFamily="34" charset="-120"/>
              </a:rPr>
              <a:t>des données maîtrisées</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txBody>
          <a:bodyPr/>
          <a:lstStyle/>
          <a:p>
            <a:endParaRPr lang="fr-FR"/>
          </a:p>
        </p:txBody>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900" dirty="0">
                <a:solidFill>
                  <a:srgbClr val="5B6770"/>
                </a:solidFill>
                <a:latin typeface="Arial" pitchFamily="34" charset="0"/>
                <a:ea typeface="Arial" pitchFamily="34" charset="-122"/>
                <a:cs typeface="Arial" pitchFamily="34" charset="-120"/>
              </a:rPr>
              <a:t>Verisure | RGPD-01 | Entretien PDG</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r">
              <a:buNone/>
            </a:pPr>
            <a:r>
              <a:rPr lang="fr-FR" altLang="en-US" sz="1000" dirty="0">
                <a:solidFill>
                  <a:srgbClr val="5B6770"/>
                </a:solidFill>
                <a:latin typeface="Arial" pitchFamily="34" charset="0"/>
                <a:ea typeface="Arial" pitchFamily="34" charset="-122"/>
                <a:cs typeface="Arial" pitchFamily="34" charset="-120"/>
              </a:rPr>
              <a:t>1</a:t>
            </a:r>
            <a:endParaRPr lang="fr-FR" sz="1000" dirty="0"/>
          </a:p>
        </p:txBody>
      </p:sp>
      <p:sp>
        <p:nvSpPr>
          <p:cNvPr id="8" name="Text 6"/>
          <p:cNvSpPr/>
          <p:nvPr/>
        </p:nvSpPr>
        <p:spPr>
          <a:xfrm>
            <a:off x="548640" y="2130552"/>
            <a:ext cx="6583680"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400" b="1" dirty="0">
                <a:solidFill>
                  <a:srgbClr val="C52F3C"/>
                </a:solidFill>
                <a:latin typeface="Arial" pitchFamily="34" charset="0"/>
                <a:ea typeface="Arial" pitchFamily="34" charset="-122"/>
                <a:cs typeface="Arial" pitchFamily="34" charset="-120"/>
              </a:rPr>
              <a:t>Notre proposition</a:t>
            </a:r>
            <a:endParaRPr lang="fr-FR" sz="2400" dirty="0"/>
          </a:p>
        </p:txBody>
      </p:sp>
      <p:sp>
        <p:nvSpPr>
          <p:cNvPr id="9" name="Text 7"/>
          <p:cNvSpPr/>
          <p:nvPr/>
        </p:nvSpPr>
        <p:spPr>
          <a:xfrm>
            <a:off x="548640" y="2724912"/>
            <a:ext cx="6720840" cy="1234440"/>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marL="0" indent="0" algn="l">
              <a:buNone/>
            </a:pPr>
            <a:r>
              <a:rPr lang="fr-FR" altLang="en-US" sz="2700" dirty="0">
                <a:solidFill>
                  <a:srgbClr val="203847"/>
                </a:solidFill>
                <a:latin typeface="Arial" pitchFamily="34" charset="0"/>
                <a:ea typeface="Arial" pitchFamily="34" charset="-122"/>
                <a:cs typeface="Arial" pitchFamily="34" charset="-120"/>
              </a:rPr>
              <a:t>Développer une application de consultation des appareils, avec une exigence RGPD suivie du besoin jusqu’à la recette.</a:t>
            </a:r>
            <a:endParaRPr lang="fr-FR" sz="2700" dirty="0"/>
          </a:p>
        </p:txBody>
      </p:sp>
      <p:sp>
        <p:nvSpPr>
          <p:cNvPr id="10" name="Text 8"/>
          <p:cNvSpPr/>
          <p:nvPr/>
        </p:nvSpPr>
        <p:spPr>
          <a:xfrm>
            <a:off x="548640" y="4352544"/>
            <a:ext cx="6629400" cy="7223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000" dirty="0">
                <a:solidFill>
                  <a:srgbClr val="203847"/>
                </a:solidFill>
                <a:latin typeface="Arial" pitchFamily="34" charset="0"/>
                <a:ea typeface="Arial" pitchFamily="34" charset="-122"/>
                <a:cs typeface="Arial" pitchFamily="34" charset="-120"/>
              </a:rPr>
              <a:t>Caméra, alarme, ouverture et mouvement :</a:t>
            </a:r>
            <a:endParaRPr lang="fr-FR" sz="2000" dirty="0"/>
          </a:p>
          <a:p>
            <a:pPr marL="0" indent="0" algn="l">
              <a:buNone/>
            </a:pPr>
            <a:r>
              <a:rPr lang="fr-FR" altLang="en-US" sz="2000" dirty="0">
                <a:solidFill>
                  <a:srgbClr val="203847"/>
                </a:solidFill>
                <a:latin typeface="Arial" pitchFamily="34" charset="0"/>
                <a:ea typeface="Arial" pitchFamily="34" charset="-122"/>
                <a:cs typeface="Arial" pitchFamily="34" charset="-120"/>
              </a:rPr>
              <a:t>uniquement leur état, sans image ni commande.</a:t>
            </a:r>
            <a:endParaRPr lang="fr-FR" sz="2000" dirty="0"/>
          </a:p>
        </p:txBody>
      </p:sp>
      <p:sp>
        <p:nvSpPr>
          <p:cNvPr id="11" name="Shape 9"/>
          <p:cNvSpPr/>
          <p:nvPr/>
        </p:nvSpPr>
        <p:spPr>
          <a:xfrm>
            <a:off x="8229600" y="1810512"/>
            <a:ext cx="3401568" cy="932688"/>
          </a:xfrm>
          <a:prstGeom prst="rect">
            <a:avLst/>
          </a:prstGeom>
          <a:solidFill>
            <a:srgbClr val="F0F3F5"/>
          </a:solidFill>
          <a:ln w="8890">
            <a:solidFill>
              <a:srgbClr val="F0F3F5"/>
            </a:solidFill>
            <a:prstDash val="solid"/>
          </a:ln>
        </p:spPr>
        <p:txBody>
          <a:bodyPr/>
          <a:lstStyle/>
          <a:p>
            <a:endParaRPr lang="fr-FR"/>
          </a:p>
        </p:txBody>
      </p:sp>
      <p:sp>
        <p:nvSpPr>
          <p:cNvPr id="12" name="Text 10"/>
          <p:cNvSpPr/>
          <p:nvPr/>
        </p:nvSpPr>
        <p:spPr>
          <a:xfrm>
            <a:off x="8430768" y="1956816"/>
            <a:ext cx="713232" cy="56692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3800" b="1" dirty="0">
                <a:solidFill>
                  <a:srgbClr val="C52F3C"/>
                </a:solidFill>
                <a:latin typeface="Arial" pitchFamily="34" charset="0"/>
                <a:ea typeface="Arial" pitchFamily="34" charset="-122"/>
                <a:cs typeface="Arial" pitchFamily="34" charset="-120"/>
              </a:rPr>
              <a:t>1</a:t>
            </a:r>
            <a:endParaRPr lang="fr-FR" sz="3800" dirty="0"/>
          </a:p>
        </p:txBody>
      </p:sp>
      <p:sp>
        <p:nvSpPr>
          <p:cNvPr id="13" name="Text 11"/>
          <p:cNvSpPr/>
          <p:nvPr/>
        </p:nvSpPr>
        <p:spPr>
          <a:xfrm>
            <a:off x="9290304" y="1947672"/>
            <a:ext cx="2103120" cy="5943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000" dirty="0">
                <a:solidFill>
                  <a:srgbClr val="203847"/>
                </a:solidFill>
                <a:latin typeface="Arial" pitchFamily="34" charset="0"/>
                <a:ea typeface="Arial" pitchFamily="34" charset="-122"/>
                <a:cs typeface="Arial" pitchFamily="34" charset="-120"/>
              </a:rPr>
              <a:t>exigence approfondie</a:t>
            </a:r>
            <a:endParaRPr lang="fr-FR" sz="2000" dirty="0"/>
          </a:p>
        </p:txBody>
      </p:sp>
      <p:sp>
        <p:nvSpPr>
          <p:cNvPr id="14" name="Shape 12"/>
          <p:cNvSpPr/>
          <p:nvPr/>
        </p:nvSpPr>
        <p:spPr>
          <a:xfrm>
            <a:off x="8229600" y="3008376"/>
            <a:ext cx="3401568" cy="932688"/>
          </a:xfrm>
          <a:prstGeom prst="rect">
            <a:avLst/>
          </a:prstGeom>
          <a:solidFill>
            <a:srgbClr val="F0F3F5"/>
          </a:solidFill>
          <a:ln w="8890">
            <a:solidFill>
              <a:srgbClr val="F0F3F5"/>
            </a:solidFill>
            <a:prstDash val="solid"/>
          </a:ln>
        </p:spPr>
        <p:txBody>
          <a:bodyPr/>
          <a:lstStyle/>
          <a:p>
            <a:endParaRPr lang="fr-FR"/>
          </a:p>
        </p:txBody>
      </p:sp>
      <p:sp>
        <p:nvSpPr>
          <p:cNvPr id="15" name="Text 13"/>
          <p:cNvSpPr/>
          <p:nvPr/>
        </p:nvSpPr>
        <p:spPr>
          <a:xfrm>
            <a:off x="8430768" y="3154680"/>
            <a:ext cx="713232" cy="56692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3800" b="1" dirty="0">
                <a:solidFill>
                  <a:srgbClr val="C52F3C"/>
                </a:solidFill>
                <a:latin typeface="Arial" pitchFamily="34" charset="0"/>
                <a:ea typeface="Arial" pitchFamily="34" charset="-122"/>
                <a:cs typeface="Arial" pitchFamily="34" charset="-120"/>
              </a:rPr>
              <a:t>24</a:t>
            </a:r>
            <a:endParaRPr lang="fr-FR" sz="3800" dirty="0"/>
          </a:p>
        </p:txBody>
      </p:sp>
      <p:sp>
        <p:nvSpPr>
          <p:cNvPr id="16" name="Text 14"/>
          <p:cNvSpPr/>
          <p:nvPr/>
        </p:nvSpPr>
        <p:spPr>
          <a:xfrm>
            <a:off x="9290304" y="3145536"/>
            <a:ext cx="2103120" cy="5943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000" dirty="0">
                <a:solidFill>
                  <a:srgbClr val="203847"/>
                </a:solidFill>
                <a:latin typeface="Arial" pitchFamily="34" charset="0"/>
                <a:ea typeface="Arial" pitchFamily="34" charset="-122"/>
                <a:cs typeface="Arial" pitchFamily="34" charset="-120"/>
              </a:rPr>
              <a:t>semaines planifiées</a:t>
            </a:r>
            <a:endParaRPr lang="fr-FR" sz="2000" dirty="0"/>
          </a:p>
        </p:txBody>
      </p:sp>
      <p:sp>
        <p:nvSpPr>
          <p:cNvPr id="17" name="Shape 15"/>
          <p:cNvSpPr/>
          <p:nvPr/>
        </p:nvSpPr>
        <p:spPr>
          <a:xfrm>
            <a:off x="8229600" y="4206240"/>
            <a:ext cx="3401568" cy="932688"/>
          </a:xfrm>
          <a:prstGeom prst="rect">
            <a:avLst/>
          </a:prstGeom>
          <a:solidFill>
            <a:srgbClr val="F0F3F5"/>
          </a:solidFill>
          <a:ln w="8890">
            <a:solidFill>
              <a:srgbClr val="F0F3F5"/>
            </a:solidFill>
            <a:prstDash val="solid"/>
          </a:ln>
        </p:spPr>
        <p:txBody>
          <a:bodyPr/>
          <a:lstStyle/>
          <a:p>
            <a:endParaRPr lang="fr-FR"/>
          </a:p>
        </p:txBody>
      </p:sp>
      <p:sp>
        <p:nvSpPr>
          <p:cNvPr id="18" name="Text 16"/>
          <p:cNvSpPr/>
          <p:nvPr/>
        </p:nvSpPr>
        <p:spPr>
          <a:xfrm>
            <a:off x="8430768" y="4352544"/>
            <a:ext cx="713232" cy="56692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3800" b="1" dirty="0">
                <a:solidFill>
                  <a:srgbClr val="C52F3C"/>
                </a:solidFill>
                <a:latin typeface="Arial" pitchFamily="34" charset="0"/>
                <a:ea typeface="Arial" pitchFamily="34" charset="-122"/>
                <a:cs typeface="Arial" pitchFamily="34" charset="-120"/>
              </a:rPr>
              <a:t>4</a:t>
            </a:r>
            <a:endParaRPr lang="fr-FR" sz="3800" dirty="0"/>
          </a:p>
        </p:txBody>
      </p:sp>
      <p:sp>
        <p:nvSpPr>
          <p:cNvPr id="19" name="Text 17"/>
          <p:cNvSpPr/>
          <p:nvPr/>
        </p:nvSpPr>
        <p:spPr>
          <a:xfrm>
            <a:off x="9290304" y="4343400"/>
            <a:ext cx="2103120" cy="5943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000" dirty="0">
                <a:solidFill>
                  <a:srgbClr val="203847"/>
                </a:solidFill>
                <a:latin typeface="Arial" pitchFamily="34" charset="0"/>
                <a:ea typeface="Arial" pitchFamily="34" charset="-122"/>
                <a:cs typeface="Arial" pitchFamily="34" charset="-120"/>
              </a:rPr>
              <a:t>types d’appareils</a:t>
            </a:r>
            <a:endParaRPr lang="fr-FR" sz="2000" dirty="0"/>
          </a:p>
        </p:txBody>
      </p:sp>
      <p:sp>
        <p:nvSpPr>
          <p:cNvPr id="20" name="Shape 18"/>
          <p:cNvSpPr/>
          <p:nvPr/>
        </p:nvSpPr>
        <p:spPr>
          <a:xfrm>
            <a:off x="548640" y="5596128"/>
            <a:ext cx="11082528" cy="676656"/>
          </a:xfrm>
          <a:prstGeom prst="rect">
            <a:avLst/>
          </a:prstGeom>
          <a:solidFill>
            <a:srgbClr val="F0F3F5"/>
          </a:solidFill>
          <a:ln w="8890">
            <a:solidFill>
              <a:srgbClr val="F0F3F5"/>
            </a:solidFill>
            <a:prstDash val="solid"/>
          </a:ln>
        </p:spPr>
        <p:txBody>
          <a:bodyPr/>
          <a:lstStyle/>
          <a:p>
            <a:endParaRPr lang="fr-FR"/>
          </a:p>
        </p:txBody>
      </p:sp>
      <p:sp>
        <p:nvSpPr>
          <p:cNvPr id="21" name="Text 19"/>
          <p:cNvSpPr/>
          <p:nvPr/>
        </p:nvSpPr>
        <p:spPr>
          <a:xfrm>
            <a:off x="740664" y="5669280"/>
            <a:ext cx="20574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b="1" dirty="0">
                <a:solidFill>
                  <a:srgbClr val="C52F3C"/>
                </a:solidFill>
                <a:latin typeface="Arial" pitchFamily="34" charset="0"/>
                <a:ea typeface="Arial" pitchFamily="34" charset="-122"/>
                <a:cs typeface="Arial" pitchFamily="34" charset="-120"/>
              </a:rPr>
              <a:t>Cadre proposé</a:t>
            </a:r>
            <a:endParaRPr lang="fr-FR" sz="1700" dirty="0"/>
          </a:p>
        </p:txBody>
      </p:sp>
      <p:sp>
        <p:nvSpPr>
          <p:cNvPr id="22" name="Text 20"/>
          <p:cNvSpPr/>
          <p:nvPr/>
        </p:nvSpPr>
        <p:spPr>
          <a:xfrm>
            <a:off x="2926080" y="5669280"/>
            <a:ext cx="84582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dirty="0">
                <a:solidFill>
                  <a:srgbClr val="203847"/>
                </a:solidFill>
                <a:latin typeface="Arial" pitchFamily="34" charset="0"/>
                <a:ea typeface="Arial" pitchFamily="34" charset="-122"/>
                <a:cs typeface="Arial" pitchFamily="34" charset="-120"/>
              </a:rPr>
              <a:t>Accès fournisseur et conditions de traitement soumis à validation.</a:t>
            </a:r>
            <a:endParaRPr lang="fr-FR"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txBody>
          <a:bodyPr/>
          <a:lstStyle/>
          <a:p>
            <a:endParaRPr lang="fr-FR"/>
          </a:p>
        </p:txBody>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kern="0" spc="130" dirty="0">
                <a:solidFill>
                  <a:srgbClr val="5B6770"/>
                </a:solidFill>
                <a:latin typeface="Arial" pitchFamily="34" charset="0"/>
                <a:ea typeface="Arial" pitchFamily="34" charset="-122"/>
                <a:cs typeface="Arial" pitchFamily="34" charset="-120"/>
              </a:rPr>
              <a:t>MÉTHODE ET DÉCISION</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3000" b="1" dirty="0">
                <a:solidFill>
                  <a:srgbClr val="203847"/>
                </a:solidFill>
                <a:latin typeface="Arial" pitchFamily="34" charset="0"/>
                <a:ea typeface="Arial" pitchFamily="34" charset="-122"/>
                <a:cs typeface="Arial" pitchFamily="34" charset="-120"/>
              </a:rPr>
              <a:t>Pourquoi retenir le Cycle en V ?</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txBody>
          <a:bodyPr/>
          <a:lstStyle/>
          <a:p>
            <a:endParaRPr lang="fr-FR"/>
          </a:p>
        </p:txBody>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900" dirty="0">
                <a:solidFill>
                  <a:srgbClr val="5B6770"/>
                </a:solidFill>
                <a:latin typeface="Arial" pitchFamily="34" charset="0"/>
                <a:ea typeface="Arial" pitchFamily="34" charset="-122"/>
                <a:cs typeface="Arial" pitchFamily="34" charset="-120"/>
              </a:rPr>
              <a:t>Verisure | RGPD-01 | Entretien PDG</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r">
              <a:buNone/>
            </a:pPr>
            <a:r>
              <a:rPr lang="fr-FR" altLang="en-US" sz="1000" dirty="0">
                <a:solidFill>
                  <a:srgbClr val="5B6770"/>
                </a:solidFill>
                <a:latin typeface="Arial" pitchFamily="34" charset="0"/>
                <a:ea typeface="Arial" pitchFamily="34" charset="-122"/>
                <a:cs typeface="Arial" pitchFamily="34" charset="-120"/>
              </a:rPr>
              <a:t>2</a:t>
            </a:r>
            <a:endParaRPr lang="fr-FR" sz="1000" dirty="0"/>
          </a:p>
        </p:txBody>
      </p:sp>
      <p:sp>
        <p:nvSpPr>
          <p:cNvPr id="8" name="Shape 6"/>
          <p:cNvSpPr/>
          <p:nvPr/>
        </p:nvSpPr>
        <p:spPr>
          <a:xfrm>
            <a:off x="548640" y="1737360"/>
            <a:ext cx="3529584" cy="3145536"/>
          </a:xfrm>
          <a:prstGeom prst="rect">
            <a:avLst/>
          </a:prstGeom>
          <a:solidFill>
            <a:srgbClr val="F0F3F5"/>
          </a:solidFill>
          <a:ln w="8890">
            <a:solidFill>
              <a:srgbClr val="F0F3F5"/>
            </a:solidFill>
            <a:prstDash val="solid"/>
          </a:ln>
        </p:spPr>
        <p:txBody>
          <a:bodyPr/>
          <a:lstStyle/>
          <a:p>
            <a:endParaRPr lang="fr-FR"/>
          </a:p>
        </p:txBody>
      </p:sp>
      <p:sp>
        <p:nvSpPr>
          <p:cNvPr id="9" name="Shape 7"/>
          <p:cNvSpPr/>
          <p:nvPr/>
        </p:nvSpPr>
        <p:spPr>
          <a:xfrm>
            <a:off x="548640" y="1737360"/>
            <a:ext cx="41148" cy="3145536"/>
          </a:xfrm>
          <a:prstGeom prst="rect">
            <a:avLst/>
          </a:prstGeom>
          <a:solidFill>
            <a:srgbClr val="C52F3C"/>
          </a:solidFill>
          <a:ln w="8890">
            <a:solidFill>
              <a:srgbClr val="C52F3C"/>
            </a:solidFill>
            <a:prstDash val="solid"/>
          </a:ln>
        </p:spPr>
        <p:txBody>
          <a:bodyPr/>
          <a:lstStyle/>
          <a:p>
            <a:endParaRPr lang="fr-FR"/>
          </a:p>
        </p:txBody>
      </p:sp>
      <p:sp>
        <p:nvSpPr>
          <p:cNvPr id="10" name="Text 8"/>
          <p:cNvSpPr/>
          <p:nvPr/>
        </p:nvSpPr>
        <p:spPr>
          <a:xfrm>
            <a:off x="749808" y="1938528"/>
            <a:ext cx="3127248" cy="3931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100" b="1" dirty="0">
                <a:solidFill>
                  <a:srgbClr val="203847"/>
                </a:solidFill>
                <a:latin typeface="Arial" pitchFamily="34" charset="0"/>
                <a:ea typeface="Arial" pitchFamily="34" charset="-122"/>
                <a:cs typeface="Arial" pitchFamily="34" charset="-120"/>
              </a:rPr>
              <a:t>Cadrer</a:t>
            </a:r>
            <a:endParaRPr lang="fr-FR" sz="2100" dirty="0"/>
          </a:p>
        </p:txBody>
      </p:sp>
      <p:sp>
        <p:nvSpPr>
          <p:cNvPr id="11" name="Text 9"/>
          <p:cNvSpPr/>
          <p:nvPr/>
        </p:nvSpPr>
        <p:spPr>
          <a:xfrm>
            <a:off x="749808" y="2505456"/>
            <a:ext cx="3127248" cy="2185416"/>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marL="0" indent="0" algn="l">
              <a:buNone/>
            </a:pPr>
            <a:r>
              <a:rPr lang="fr-FR" altLang="en-US" sz="2100" dirty="0">
                <a:solidFill>
                  <a:srgbClr val="203847"/>
                </a:solidFill>
                <a:latin typeface="Arial" pitchFamily="34" charset="0"/>
                <a:ea typeface="Arial" pitchFamily="34" charset="-122"/>
                <a:cs typeface="Arial" pitchFamily="34" charset="-120"/>
              </a:rPr>
              <a:t>Un périmètre défini.</a:t>
            </a:r>
            <a:endParaRPr lang="fr-FR" sz="2100" dirty="0"/>
          </a:p>
          <a:p>
            <a:pPr marL="0" indent="0" algn="l">
              <a:buNone/>
            </a:pPr>
            <a:r>
              <a:rPr lang="fr-FR" altLang="en-US" sz="2100" dirty="0">
                <a:solidFill>
                  <a:srgbClr val="203847"/>
                </a:solidFill>
                <a:latin typeface="Arial" pitchFamily="34" charset="0"/>
                <a:ea typeface="Arial" pitchFamily="34" charset="-122"/>
                <a:cs typeface="Arial" pitchFamily="34" charset="-120"/>
              </a:rPr>
              <a:t>Des critères précis.</a:t>
            </a:r>
            <a:endParaRPr lang="fr-FR" sz="2100" dirty="0"/>
          </a:p>
          <a:p>
            <a:pPr marL="0" indent="0" algn="l">
              <a:buNone/>
            </a:pPr>
            <a:r>
              <a:rPr lang="fr-FR" altLang="en-US" sz="2100" dirty="0">
                <a:solidFill>
                  <a:srgbClr val="203847"/>
                </a:solidFill>
                <a:latin typeface="Arial" pitchFamily="34" charset="0"/>
                <a:ea typeface="Arial" pitchFamily="34" charset="-122"/>
                <a:cs typeface="Arial" pitchFamily="34" charset="-120"/>
              </a:rPr>
              <a:t>Des livrables revus avant de poursuivre.</a:t>
            </a:r>
            <a:endParaRPr lang="fr-FR" sz="2100" dirty="0"/>
          </a:p>
        </p:txBody>
      </p:sp>
      <p:sp>
        <p:nvSpPr>
          <p:cNvPr id="12" name="Shape 10"/>
          <p:cNvSpPr/>
          <p:nvPr/>
        </p:nvSpPr>
        <p:spPr>
          <a:xfrm>
            <a:off x="4315968" y="1737360"/>
            <a:ext cx="3529584" cy="3145536"/>
          </a:xfrm>
          <a:prstGeom prst="rect">
            <a:avLst/>
          </a:prstGeom>
          <a:solidFill>
            <a:srgbClr val="F0F3F5"/>
          </a:solidFill>
          <a:ln w="8890">
            <a:solidFill>
              <a:srgbClr val="F0F3F5"/>
            </a:solidFill>
            <a:prstDash val="solid"/>
          </a:ln>
        </p:spPr>
        <p:txBody>
          <a:bodyPr/>
          <a:lstStyle/>
          <a:p>
            <a:endParaRPr lang="fr-FR"/>
          </a:p>
        </p:txBody>
      </p:sp>
      <p:sp>
        <p:nvSpPr>
          <p:cNvPr id="13" name="Shape 11"/>
          <p:cNvSpPr/>
          <p:nvPr/>
        </p:nvSpPr>
        <p:spPr>
          <a:xfrm>
            <a:off x="4315968" y="1737360"/>
            <a:ext cx="41148" cy="3145536"/>
          </a:xfrm>
          <a:prstGeom prst="rect">
            <a:avLst/>
          </a:prstGeom>
          <a:solidFill>
            <a:srgbClr val="C52F3C"/>
          </a:solidFill>
          <a:ln w="8890">
            <a:solidFill>
              <a:srgbClr val="C52F3C"/>
            </a:solidFill>
            <a:prstDash val="solid"/>
          </a:ln>
        </p:spPr>
        <p:txBody>
          <a:bodyPr/>
          <a:lstStyle/>
          <a:p>
            <a:endParaRPr lang="fr-FR"/>
          </a:p>
        </p:txBody>
      </p:sp>
      <p:sp>
        <p:nvSpPr>
          <p:cNvPr id="14" name="Text 12"/>
          <p:cNvSpPr/>
          <p:nvPr/>
        </p:nvSpPr>
        <p:spPr>
          <a:xfrm>
            <a:off x="4517136" y="1938528"/>
            <a:ext cx="3127248" cy="3931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100" b="1" dirty="0">
                <a:solidFill>
                  <a:srgbClr val="203847"/>
                </a:solidFill>
                <a:latin typeface="Arial" pitchFamily="34" charset="0"/>
                <a:ea typeface="Arial" pitchFamily="34" charset="-122"/>
                <a:cs typeface="Arial" pitchFamily="34" charset="-120"/>
              </a:rPr>
              <a:t>Relier</a:t>
            </a:r>
            <a:endParaRPr lang="fr-FR" sz="2100" dirty="0"/>
          </a:p>
        </p:txBody>
      </p:sp>
      <p:sp>
        <p:nvSpPr>
          <p:cNvPr id="15" name="Text 13"/>
          <p:cNvSpPr/>
          <p:nvPr/>
        </p:nvSpPr>
        <p:spPr>
          <a:xfrm>
            <a:off x="4517136" y="2505456"/>
            <a:ext cx="3127248" cy="2185416"/>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marL="0" indent="0" algn="l">
              <a:buNone/>
            </a:pPr>
            <a:r>
              <a:rPr lang="fr-FR" altLang="en-US" sz="2300" dirty="0">
                <a:solidFill>
                  <a:srgbClr val="203847"/>
                </a:solidFill>
                <a:latin typeface="Arial" pitchFamily="34" charset="0"/>
                <a:ea typeface="Arial" pitchFamily="34" charset="-122"/>
                <a:cs typeface="Arial" pitchFamily="34" charset="-120"/>
              </a:rPr>
              <a:t>Chaque choix de conception prépare une vérification correspondante.</a:t>
            </a:r>
            <a:endParaRPr lang="fr-FR" sz="2300" dirty="0"/>
          </a:p>
        </p:txBody>
      </p:sp>
      <p:sp>
        <p:nvSpPr>
          <p:cNvPr id="16" name="Shape 14"/>
          <p:cNvSpPr/>
          <p:nvPr/>
        </p:nvSpPr>
        <p:spPr>
          <a:xfrm>
            <a:off x="8083296" y="1737360"/>
            <a:ext cx="3547872" cy="3145536"/>
          </a:xfrm>
          <a:prstGeom prst="rect">
            <a:avLst/>
          </a:prstGeom>
          <a:solidFill>
            <a:srgbClr val="F0F3F5"/>
          </a:solidFill>
          <a:ln w="8890">
            <a:solidFill>
              <a:srgbClr val="F0F3F5"/>
            </a:solidFill>
            <a:prstDash val="solid"/>
          </a:ln>
        </p:spPr>
        <p:txBody>
          <a:bodyPr/>
          <a:lstStyle/>
          <a:p>
            <a:endParaRPr lang="fr-FR"/>
          </a:p>
        </p:txBody>
      </p:sp>
      <p:sp>
        <p:nvSpPr>
          <p:cNvPr id="17" name="Shape 15"/>
          <p:cNvSpPr/>
          <p:nvPr/>
        </p:nvSpPr>
        <p:spPr>
          <a:xfrm>
            <a:off x="8083296" y="1737360"/>
            <a:ext cx="41148" cy="3145536"/>
          </a:xfrm>
          <a:prstGeom prst="rect">
            <a:avLst/>
          </a:prstGeom>
          <a:solidFill>
            <a:srgbClr val="C52F3C"/>
          </a:solidFill>
          <a:ln w="8890">
            <a:solidFill>
              <a:srgbClr val="C52F3C"/>
            </a:solidFill>
            <a:prstDash val="solid"/>
          </a:ln>
        </p:spPr>
        <p:txBody>
          <a:bodyPr/>
          <a:lstStyle/>
          <a:p>
            <a:endParaRPr lang="fr-FR"/>
          </a:p>
        </p:txBody>
      </p:sp>
      <p:sp>
        <p:nvSpPr>
          <p:cNvPr id="18" name="Text 16"/>
          <p:cNvSpPr/>
          <p:nvPr/>
        </p:nvSpPr>
        <p:spPr>
          <a:xfrm>
            <a:off x="8284464" y="1938528"/>
            <a:ext cx="3145536" cy="3931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100" b="1" dirty="0">
                <a:solidFill>
                  <a:srgbClr val="203847"/>
                </a:solidFill>
                <a:latin typeface="Arial" pitchFamily="34" charset="0"/>
                <a:ea typeface="Arial" pitchFamily="34" charset="-122"/>
                <a:cs typeface="Arial" pitchFamily="34" charset="-120"/>
              </a:rPr>
              <a:t>Vérifier</a:t>
            </a:r>
            <a:endParaRPr lang="fr-FR" sz="2100" dirty="0"/>
          </a:p>
        </p:txBody>
      </p:sp>
      <p:sp>
        <p:nvSpPr>
          <p:cNvPr id="19" name="Text 17"/>
          <p:cNvSpPr/>
          <p:nvPr/>
        </p:nvSpPr>
        <p:spPr>
          <a:xfrm>
            <a:off x="8284464" y="2505456"/>
            <a:ext cx="3145536" cy="2185416"/>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marL="0" indent="0" algn="l">
              <a:buNone/>
            </a:pPr>
            <a:r>
              <a:rPr lang="fr-FR" altLang="en-US" sz="2100" dirty="0">
                <a:solidFill>
                  <a:srgbClr val="203847"/>
                </a:solidFill>
                <a:latin typeface="Arial" pitchFamily="34" charset="0"/>
                <a:ea typeface="Arial" pitchFamily="34" charset="-122"/>
                <a:cs typeface="Arial" pitchFamily="34" charset="-120"/>
              </a:rPr>
              <a:t>Des tests préparés tôt.</a:t>
            </a:r>
            <a:endParaRPr lang="fr-FR" sz="2100" dirty="0"/>
          </a:p>
          <a:p>
            <a:pPr marL="0" indent="0" algn="l">
              <a:buNone/>
            </a:pPr>
            <a:r>
              <a:rPr lang="fr-FR" altLang="en-US" sz="2100" dirty="0">
                <a:solidFill>
                  <a:srgbClr val="203847"/>
                </a:solidFill>
                <a:latin typeface="Arial" pitchFamily="34" charset="0"/>
                <a:ea typeface="Arial" pitchFamily="34" charset="-122"/>
                <a:cs typeface="Arial" pitchFamily="34" charset="-120"/>
              </a:rPr>
              <a:t>Une preuve attendue.</a:t>
            </a:r>
            <a:endParaRPr lang="fr-FR" sz="2100" dirty="0"/>
          </a:p>
          <a:p>
            <a:pPr marL="0" indent="0" algn="l">
              <a:buNone/>
            </a:pPr>
            <a:r>
              <a:rPr lang="fr-FR" altLang="en-US" sz="2100" dirty="0">
                <a:solidFill>
                  <a:srgbClr val="203847"/>
                </a:solidFill>
                <a:latin typeface="Arial" pitchFamily="34" charset="0"/>
                <a:ea typeface="Arial" pitchFamily="34" charset="-122"/>
                <a:cs typeface="Arial" pitchFamily="34" charset="-120"/>
              </a:rPr>
              <a:t>Une décision de recette.</a:t>
            </a:r>
            <a:endParaRPr lang="fr-FR" sz="2100" dirty="0"/>
          </a:p>
        </p:txBody>
      </p:sp>
      <p:sp>
        <p:nvSpPr>
          <p:cNvPr id="20" name="Shape 18"/>
          <p:cNvSpPr/>
          <p:nvPr/>
        </p:nvSpPr>
        <p:spPr>
          <a:xfrm>
            <a:off x="548640" y="5486400"/>
            <a:ext cx="11082528" cy="676656"/>
          </a:xfrm>
          <a:prstGeom prst="rect">
            <a:avLst/>
          </a:prstGeom>
          <a:solidFill>
            <a:srgbClr val="F0F3F5"/>
          </a:solidFill>
          <a:ln w="8890">
            <a:solidFill>
              <a:srgbClr val="F0F3F5"/>
            </a:solidFill>
            <a:prstDash val="solid"/>
          </a:ln>
        </p:spPr>
        <p:txBody>
          <a:bodyPr/>
          <a:lstStyle/>
          <a:p>
            <a:endParaRPr lang="fr-FR"/>
          </a:p>
        </p:txBody>
      </p:sp>
      <p:sp>
        <p:nvSpPr>
          <p:cNvPr id="21" name="Text 19"/>
          <p:cNvSpPr/>
          <p:nvPr/>
        </p:nvSpPr>
        <p:spPr>
          <a:xfrm>
            <a:off x="740664" y="5559552"/>
            <a:ext cx="20574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b="1" dirty="0">
                <a:solidFill>
                  <a:srgbClr val="C52F3C"/>
                </a:solidFill>
                <a:latin typeface="Arial" pitchFamily="34" charset="0"/>
                <a:ea typeface="Arial" pitchFamily="34" charset="-122"/>
                <a:cs typeface="Arial" pitchFamily="34" charset="-120"/>
              </a:rPr>
              <a:t>Limite à anticiper</a:t>
            </a:r>
            <a:endParaRPr lang="fr-FR" sz="1700" dirty="0"/>
          </a:p>
        </p:txBody>
      </p:sp>
      <p:sp>
        <p:nvSpPr>
          <p:cNvPr id="22" name="Text 20"/>
          <p:cNvSpPr/>
          <p:nvPr/>
        </p:nvSpPr>
        <p:spPr>
          <a:xfrm>
            <a:off x="2926080" y="5559552"/>
            <a:ext cx="84582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dirty="0">
                <a:solidFill>
                  <a:srgbClr val="203847"/>
                </a:solidFill>
                <a:latin typeface="Arial" pitchFamily="34" charset="0"/>
                <a:ea typeface="Arial" pitchFamily="34" charset="-122"/>
                <a:cs typeface="Arial" pitchFamily="34" charset="-120"/>
              </a:rPr>
              <a:t>Revues en S4 et S8 ; toute évolution est analysée avant approbation.</a:t>
            </a:r>
            <a:endParaRPr lang="fr-FR"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txBody>
          <a:bodyPr/>
          <a:lstStyle/>
          <a:p>
            <a:endParaRPr lang="fr-FR"/>
          </a:p>
        </p:txBody>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kern="0" spc="130" dirty="0">
                <a:solidFill>
                  <a:srgbClr val="5B6770"/>
                </a:solidFill>
                <a:latin typeface="Arial" pitchFamily="34" charset="0"/>
                <a:ea typeface="Arial" pitchFamily="34" charset="-122"/>
                <a:cs typeface="Arial" pitchFamily="34" charset="-120"/>
              </a:rPr>
              <a:t>PHASES ET LIVRABLES</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3000" b="1" dirty="0">
                <a:solidFill>
                  <a:srgbClr val="203847"/>
                </a:solidFill>
                <a:latin typeface="Arial" pitchFamily="34" charset="0"/>
                <a:ea typeface="Arial" pitchFamily="34" charset="-122"/>
                <a:cs typeface="Arial" pitchFamily="34" charset="-120"/>
              </a:rPr>
              <a:t>Du besoin à la recette : les deux branches du V</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txBody>
          <a:bodyPr/>
          <a:lstStyle/>
          <a:p>
            <a:endParaRPr lang="fr-FR"/>
          </a:p>
        </p:txBody>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900" dirty="0">
                <a:solidFill>
                  <a:srgbClr val="5B6770"/>
                </a:solidFill>
                <a:latin typeface="Arial" pitchFamily="34" charset="0"/>
                <a:ea typeface="Arial" pitchFamily="34" charset="-122"/>
                <a:cs typeface="Arial" pitchFamily="34" charset="-120"/>
              </a:rPr>
              <a:t>Verisure | RGPD-01 | Entretien PDG</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r">
              <a:buNone/>
            </a:pPr>
            <a:r>
              <a:rPr lang="fr-FR" altLang="en-US" sz="1000" dirty="0">
                <a:solidFill>
                  <a:srgbClr val="5B6770"/>
                </a:solidFill>
                <a:latin typeface="Arial" pitchFamily="34" charset="0"/>
                <a:ea typeface="Arial" pitchFamily="34" charset="-122"/>
                <a:cs typeface="Arial" pitchFamily="34" charset="-120"/>
              </a:rPr>
              <a:t>3</a:t>
            </a:r>
            <a:endParaRPr lang="fr-FR" sz="1000" dirty="0"/>
          </a:p>
        </p:txBody>
      </p:sp>
      <p:sp>
        <p:nvSpPr>
          <p:cNvPr id="8" name="Shape 6"/>
          <p:cNvSpPr/>
          <p:nvPr/>
        </p:nvSpPr>
        <p:spPr>
          <a:xfrm>
            <a:off x="4105656" y="2075688"/>
            <a:ext cx="3959352" cy="0"/>
          </a:xfrm>
          <a:prstGeom prst="line">
            <a:avLst/>
          </a:prstGeom>
          <a:solidFill>
            <a:srgbClr val="FFFFFF">
              <a:alpha val="0"/>
            </a:srgbClr>
          </a:solidFill>
          <a:ln w="12700">
            <a:solidFill>
              <a:srgbClr val="DCE2E6"/>
            </a:solidFill>
            <a:prstDash val="solid"/>
          </a:ln>
        </p:spPr>
        <p:txBody>
          <a:bodyPr/>
          <a:lstStyle/>
          <a:p>
            <a:endParaRPr lang="fr-FR"/>
          </a:p>
        </p:txBody>
      </p:sp>
      <p:sp>
        <p:nvSpPr>
          <p:cNvPr id="9" name="Shape 7"/>
          <p:cNvSpPr/>
          <p:nvPr/>
        </p:nvSpPr>
        <p:spPr>
          <a:xfrm>
            <a:off x="4700016" y="2971800"/>
            <a:ext cx="2770632" cy="0"/>
          </a:xfrm>
          <a:prstGeom prst="line">
            <a:avLst/>
          </a:prstGeom>
          <a:solidFill>
            <a:srgbClr val="FFFFFF">
              <a:alpha val="0"/>
            </a:srgbClr>
          </a:solidFill>
          <a:ln w="12700">
            <a:solidFill>
              <a:srgbClr val="DCE2E6"/>
            </a:solidFill>
            <a:prstDash val="solid"/>
          </a:ln>
        </p:spPr>
        <p:txBody>
          <a:bodyPr/>
          <a:lstStyle/>
          <a:p>
            <a:endParaRPr lang="fr-FR"/>
          </a:p>
        </p:txBody>
      </p:sp>
      <p:sp>
        <p:nvSpPr>
          <p:cNvPr id="10" name="Shape 8"/>
          <p:cNvSpPr/>
          <p:nvPr/>
        </p:nvSpPr>
        <p:spPr>
          <a:xfrm>
            <a:off x="5294376" y="3867912"/>
            <a:ext cx="1581912" cy="0"/>
          </a:xfrm>
          <a:prstGeom prst="line">
            <a:avLst/>
          </a:prstGeom>
          <a:solidFill>
            <a:srgbClr val="FFFFFF">
              <a:alpha val="0"/>
            </a:srgbClr>
          </a:solidFill>
          <a:ln w="12700">
            <a:solidFill>
              <a:srgbClr val="DCE2E6"/>
            </a:solidFill>
            <a:prstDash val="solid"/>
          </a:ln>
        </p:spPr>
        <p:txBody>
          <a:bodyPr/>
          <a:lstStyle/>
          <a:p>
            <a:endParaRPr lang="fr-FR"/>
          </a:p>
        </p:txBody>
      </p:sp>
      <p:sp>
        <p:nvSpPr>
          <p:cNvPr id="11" name="Shape 9"/>
          <p:cNvSpPr/>
          <p:nvPr/>
        </p:nvSpPr>
        <p:spPr>
          <a:xfrm>
            <a:off x="5888736" y="4764024"/>
            <a:ext cx="393192" cy="0"/>
          </a:xfrm>
          <a:prstGeom prst="line">
            <a:avLst/>
          </a:prstGeom>
          <a:solidFill>
            <a:srgbClr val="FFFFFF">
              <a:alpha val="0"/>
            </a:srgbClr>
          </a:solidFill>
          <a:ln w="12700">
            <a:solidFill>
              <a:srgbClr val="DCE2E6"/>
            </a:solidFill>
            <a:prstDash val="solid"/>
          </a:ln>
        </p:spPr>
        <p:txBody>
          <a:bodyPr/>
          <a:lstStyle/>
          <a:p>
            <a:endParaRPr lang="fr-FR"/>
          </a:p>
        </p:txBody>
      </p:sp>
      <p:sp>
        <p:nvSpPr>
          <p:cNvPr id="12" name="Shape 10"/>
          <p:cNvSpPr/>
          <p:nvPr/>
        </p:nvSpPr>
        <p:spPr>
          <a:xfrm>
            <a:off x="2331720" y="2478024"/>
            <a:ext cx="511223" cy="128016"/>
          </a:xfrm>
          <a:prstGeom prst="line">
            <a:avLst/>
          </a:prstGeom>
          <a:solidFill>
            <a:srgbClr val="FFFFFF">
              <a:alpha val="0"/>
            </a:srgbClr>
          </a:solidFill>
          <a:ln w="16510">
            <a:solidFill>
              <a:srgbClr val="5B6770"/>
            </a:solidFill>
            <a:prstDash val="solid"/>
          </a:ln>
        </p:spPr>
        <p:txBody>
          <a:bodyPr/>
          <a:lstStyle/>
          <a:p>
            <a:endParaRPr lang="fr-FR"/>
          </a:p>
        </p:txBody>
      </p:sp>
      <p:sp>
        <p:nvSpPr>
          <p:cNvPr id="13" name="Shape 11"/>
          <p:cNvSpPr/>
          <p:nvPr/>
        </p:nvSpPr>
        <p:spPr>
          <a:xfrm>
            <a:off x="2926080" y="3374136"/>
            <a:ext cx="594358" cy="128016"/>
          </a:xfrm>
          <a:prstGeom prst="line">
            <a:avLst/>
          </a:prstGeom>
          <a:solidFill>
            <a:srgbClr val="FFFFFF">
              <a:alpha val="0"/>
            </a:srgbClr>
          </a:solidFill>
          <a:ln w="16510">
            <a:solidFill>
              <a:srgbClr val="5B6770"/>
            </a:solidFill>
            <a:prstDash val="solid"/>
          </a:ln>
        </p:spPr>
        <p:txBody>
          <a:bodyPr/>
          <a:lstStyle/>
          <a:p>
            <a:endParaRPr lang="fr-FR"/>
          </a:p>
        </p:txBody>
      </p:sp>
      <p:sp>
        <p:nvSpPr>
          <p:cNvPr id="14" name="Shape 12"/>
          <p:cNvSpPr/>
          <p:nvPr/>
        </p:nvSpPr>
        <p:spPr>
          <a:xfrm>
            <a:off x="3520440" y="4270248"/>
            <a:ext cx="548640" cy="128016"/>
          </a:xfrm>
          <a:prstGeom prst="line">
            <a:avLst/>
          </a:prstGeom>
          <a:solidFill>
            <a:srgbClr val="FFFFFF">
              <a:alpha val="0"/>
            </a:srgbClr>
          </a:solidFill>
          <a:ln w="16510">
            <a:solidFill>
              <a:srgbClr val="5B6770"/>
            </a:solidFill>
            <a:prstDash val="solid"/>
          </a:ln>
        </p:spPr>
        <p:txBody>
          <a:bodyPr/>
          <a:lstStyle/>
          <a:p>
            <a:endParaRPr lang="fr-FR"/>
          </a:p>
        </p:txBody>
      </p:sp>
      <p:sp>
        <p:nvSpPr>
          <p:cNvPr id="15" name="Shape 13"/>
          <p:cNvSpPr/>
          <p:nvPr/>
        </p:nvSpPr>
        <p:spPr>
          <a:xfrm flipH="1">
            <a:off x="9244584" y="2478024"/>
            <a:ext cx="594360" cy="128016"/>
          </a:xfrm>
          <a:prstGeom prst="line">
            <a:avLst/>
          </a:prstGeom>
          <a:solidFill>
            <a:srgbClr val="FFFFFF">
              <a:alpha val="0"/>
            </a:srgbClr>
          </a:solidFill>
          <a:ln w="16510">
            <a:solidFill>
              <a:srgbClr val="5B6770"/>
            </a:solidFill>
            <a:prstDash val="solid"/>
          </a:ln>
        </p:spPr>
        <p:txBody>
          <a:bodyPr/>
          <a:lstStyle/>
          <a:p>
            <a:endParaRPr lang="fr-FR"/>
          </a:p>
        </p:txBody>
      </p:sp>
      <p:sp>
        <p:nvSpPr>
          <p:cNvPr id="16" name="Shape 14"/>
          <p:cNvSpPr/>
          <p:nvPr/>
        </p:nvSpPr>
        <p:spPr>
          <a:xfrm flipH="1">
            <a:off x="8671564" y="3374136"/>
            <a:ext cx="573020" cy="128016"/>
          </a:xfrm>
          <a:prstGeom prst="line">
            <a:avLst/>
          </a:prstGeom>
          <a:solidFill>
            <a:srgbClr val="FFFFFF">
              <a:alpha val="0"/>
            </a:srgbClr>
          </a:solidFill>
          <a:ln w="16510">
            <a:solidFill>
              <a:srgbClr val="5B6770"/>
            </a:solidFill>
            <a:prstDash val="solid"/>
          </a:ln>
        </p:spPr>
        <p:txBody>
          <a:bodyPr/>
          <a:lstStyle/>
          <a:p>
            <a:endParaRPr lang="fr-FR"/>
          </a:p>
        </p:txBody>
      </p:sp>
      <p:sp>
        <p:nvSpPr>
          <p:cNvPr id="17" name="Shape 15"/>
          <p:cNvSpPr/>
          <p:nvPr/>
        </p:nvSpPr>
        <p:spPr>
          <a:xfrm flipH="1">
            <a:off x="8122922" y="4270247"/>
            <a:ext cx="427549" cy="155447"/>
          </a:xfrm>
          <a:prstGeom prst="line">
            <a:avLst/>
          </a:prstGeom>
          <a:solidFill>
            <a:srgbClr val="FFFFFF">
              <a:alpha val="0"/>
            </a:srgbClr>
          </a:solidFill>
          <a:ln w="16510">
            <a:solidFill>
              <a:srgbClr val="5B6770"/>
            </a:solidFill>
            <a:prstDash val="solid"/>
          </a:ln>
        </p:spPr>
        <p:txBody>
          <a:bodyPr/>
          <a:lstStyle/>
          <a:p>
            <a:endParaRPr lang="fr-FR"/>
          </a:p>
        </p:txBody>
      </p:sp>
      <p:sp>
        <p:nvSpPr>
          <p:cNvPr id="18" name="Shape 16"/>
          <p:cNvSpPr/>
          <p:nvPr/>
        </p:nvSpPr>
        <p:spPr>
          <a:xfrm>
            <a:off x="594360" y="1709928"/>
            <a:ext cx="3474720" cy="758952"/>
          </a:xfrm>
          <a:prstGeom prst="rect">
            <a:avLst/>
          </a:prstGeom>
          <a:solidFill>
            <a:srgbClr val="203847"/>
          </a:solidFill>
          <a:ln w="8890">
            <a:solidFill>
              <a:srgbClr val="203847"/>
            </a:solidFill>
            <a:prstDash val="solid"/>
          </a:ln>
        </p:spPr>
        <p:txBody>
          <a:bodyPr/>
          <a:lstStyle/>
          <a:p>
            <a:endParaRPr lang="fr-FR"/>
          </a:p>
        </p:txBody>
      </p:sp>
      <p:sp>
        <p:nvSpPr>
          <p:cNvPr id="19" name="Text 17"/>
          <p:cNvSpPr/>
          <p:nvPr/>
        </p:nvSpPr>
        <p:spPr>
          <a:xfrm>
            <a:off x="667512" y="1819656"/>
            <a:ext cx="3328416"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800" b="1" dirty="0">
                <a:solidFill>
                  <a:srgbClr val="FFFFFF"/>
                </a:solidFill>
                <a:latin typeface="Arial" pitchFamily="34" charset="0"/>
                <a:ea typeface="Arial" pitchFamily="34" charset="-122"/>
                <a:cs typeface="Arial" pitchFamily="34" charset="-120"/>
              </a:rPr>
              <a:t>Exigences</a:t>
            </a:r>
            <a:endParaRPr lang="fr-FR" sz="1800" dirty="0"/>
          </a:p>
        </p:txBody>
      </p:sp>
      <p:sp>
        <p:nvSpPr>
          <p:cNvPr id="20" name="Text 18"/>
          <p:cNvSpPr/>
          <p:nvPr/>
        </p:nvSpPr>
        <p:spPr>
          <a:xfrm>
            <a:off x="667512" y="2176272"/>
            <a:ext cx="3328416"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FFFFFF"/>
                </a:solidFill>
                <a:latin typeface="Arial" pitchFamily="34" charset="0"/>
                <a:ea typeface="Arial" pitchFamily="34" charset="-122"/>
                <a:cs typeface="Arial" pitchFamily="34" charset="-120"/>
              </a:rPr>
              <a:t>Besoin et critères</a:t>
            </a:r>
            <a:endParaRPr lang="fr-FR" sz="1200" dirty="0"/>
          </a:p>
        </p:txBody>
      </p:sp>
      <p:sp>
        <p:nvSpPr>
          <p:cNvPr id="21" name="Shape 19"/>
          <p:cNvSpPr/>
          <p:nvPr/>
        </p:nvSpPr>
        <p:spPr>
          <a:xfrm>
            <a:off x="1188720" y="2606040"/>
            <a:ext cx="3474720" cy="758952"/>
          </a:xfrm>
          <a:prstGeom prst="rect">
            <a:avLst/>
          </a:prstGeom>
          <a:solidFill>
            <a:srgbClr val="203847"/>
          </a:solidFill>
          <a:ln w="8890">
            <a:solidFill>
              <a:srgbClr val="203847"/>
            </a:solidFill>
            <a:prstDash val="solid"/>
          </a:ln>
        </p:spPr>
        <p:txBody>
          <a:bodyPr/>
          <a:lstStyle/>
          <a:p>
            <a:endParaRPr lang="fr-FR"/>
          </a:p>
        </p:txBody>
      </p:sp>
      <p:sp>
        <p:nvSpPr>
          <p:cNvPr id="22" name="Text 20"/>
          <p:cNvSpPr/>
          <p:nvPr/>
        </p:nvSpPr>
        <p:spPr>
          <a:xfrm>
            <a:off x="1261872" y="2715768"/>
            <a:ext cx="3328416"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800" b="1" dirty="0">
                <a:solidFill>
                  <a:srgbClr val="FFFFFF"/>
                </a:solidFill>
                <a:latin typeface="Arial" pitchFamily="34" charset="0"/>
                <a:ea typeface="Arial" pitchFamily="34" charset="-122"/>
                <a:cs typeface="Arial" pitchFamily="34" charset="-120"/>
              </a:rPr>
              <a:t>Analyse</a:t>
            </a:r>
            <a:endParaRPr lang="fr-FR" sz="1800" dirty="0"/>
          </a:p>
        </p:txBody>
      </p:sp>
      <p:sp>
        <p:nvSpPr>
          <p:cNvPr id="23" name="Text 21"/>
          <p:cNvSpPr/>
          <p:nvPr/>
        </p:nvSpPr>
        <p:spPr>
          <a:xfrm>
            <a:off x="1261872" y="3072384"/>
            <a:ext cx="3328416"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FFFFFF"/>
                </a:solidFill>
                <a:latin typeface="Arial" pitchFamily="34" charset="0"/>
                <a:ea typeface="Arial" pitchFamily="34" charset="-122"/>
                <a:cs typeface="Arial" pitchFamily="34" charset="-120"/>
              </a:rPr>
              <a:t>Cahier des charges</a:t>
            </a:r>
            <a:endParaRPr lang="fr-FR" sz="1200" dirty="0"/>
          </a:p>
        </p:txBody>
      </p:sp>
      <p:sp>
        <p:nvSpPr>
          <p:cNvPr id="24" name="Shape 22"/>
          <p:cNvSpPr/>
          <p:nvPr/>
        </p:nvSpPr>
        <p:spPr>
          <a:xfrm>
            <a:off x="1783080" y="3502152"/>
            <a:ext cx="3474720" cy="758952"/>
          </a:xfrm>
          <a:prstGeom prst="rect">
            <a:avLst/>
          </a:prstGeom>
          <a:solidFill>
            <a:srgbClr val="203847"/>
          </a:solidFill>
          <a:ln w="8890">
            <a:solidFill>
              <a:srgbClr val="203847"/>
            </a:solidFill>
            <a:prstDash val="solid"/>
          </a:ln>
        </p:spPr>
        <p:txBody>
          <a:bodyPr/>
          <a:lstStyle/>
          <a:p>
            <a:endParaRPr lang="fr-FR"/>
          </a:p>
        </p:txBody>
      </p:sp>
      <p:sp>
        <p:nvSpPr>
          <p:cNvPr id="25" name="Text 23"/>
          <p:cNvSpPr/>
          <p:nvPr/>
        </p:nvSpPr>
        <p:spPr>
          <a:xfrm>
            <a:off x="1856232" y="3611880"/>
            <a:ext cx="3328416"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800" b="1" dirty="0">
                <a:solidFill>
                  <a:srgbClr val="FFFFFF"/>
                </a:solidFill>
                <a:latin typeface="Arial" pitchFamily="34" charset="0"/>
                <a:ea typeface="Arial" pitchFamily="34" charset="-122"/>
                <a:cs typeface="Arial" pitchFamily="34" charset="-120"/>
              </a:rPr>
              <a:t>Conception générale</a:t>
            </a:r>
            <a:endParaRPr lang="fr-FR" sz="1800" dirty="0"/>
          </a:p>
        </p:txBody>
      </p:sp>
      <p:sp>
        <p:nvSpPr>
          <p:cNvPr id="26" name="Text 24"/>
          <p:cNvSpPr/>
          <p:nvPr/>
        </p:nvSpPr>
        <p:spPr>
          <a:xfrm>
            <a:off x="1856232" y="3968496"/>
            <a:ext cx="3328416"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FFFFFF"/>
                </a:solidFill>
                <a:latin typeface="Arial" pitchFamily="34" charset="0"/>
                <a:ea typeface="Arial" pitchFamily="34" charset="-122"/>
                <a:cs typeface="Arial" pitchFamily="34" charset="-120"/>
              </a:rPr>
              <a:t>Architecture et flux</a:t>
            </a:r>
            <a:endParaRPr lang="fr-FR" sz="1200" dirty="0"/>
          </a:p>
        </p:txBody>
      </p:sp>
      <p:sp>
        <p:nvSpPr>
          <p:cNvPr id="27" name="Shape 25"/>
          <p:cNvSpPr/>
          <p:nvPr/>
        </p:nvSpPr>
        <p:spPr>
          <a:xfrm>
            <a:off x="2377440" y="4398264"/>
            <a:ext cx="3474720" cy="758952"/>
          </a:xfrm>
          <a:prstGeom prst="rect">
            <a:avLst/>
          </a:prstGeom>
          <a:solidFill>
            <a:srgbClr val="203847"/>
          </a:solidFill>
          <a:ln w="8890">
            <a:solidFill>
              <a:srgbClr val="203847"/>
            </a:solidFill>
            <a:prstDash val="solid"/>
          </a:ln>
        </p:spPr>
        <p:txBody>
          <a:bodyPr/>
          <a:lstStyle/>
          <a:p>
            <a:endParaRPr lang="fr-FR"/>
          </a:p>
        </p:txBody>
      </p:sp>
      <p:sp>
        <p:nvSpPr>
          <p:cNvPr id="28" name="Text 26"/>
          <p:cNvSpPr/>
          <p:nvPr/>
        </p:nvSpPr>
        <p:spPr>
          <a:xfrm>
            <a:off x="2450592" y="4507992"/>
            <a:ext cx="3328416"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800" b="1" dirty="0">
                <a:solidFill>
                  <a:srgbClr val="FFFFFF"/>
                </a:solidFill>
                <a:latin typeface="Arial" pitchFamily="34" charset="0"/>
                <a:ea typeface="Arial" pitchFamily="34" charset="-122"/>
                <a:cs typeface="Arial" pitchFamily="34" charset="-120"/>
              </a:rPr>
              <a:t>Conception détaillée</a:t>
            </a:r>
            <a:endParaRPr lang="fr-FR" sz="1800" dirty="0"/>
          </a:p>
        </p:txBody>
      </p:sp>
      <p:sp>
        <p:nvSpPr>
          <p:cNvPr id="29" name="Text 27"/>
          <p:cNvSpPr/>
          <p:nvPr/>
        </p:nvSpPr>
        <p:spPr>
          <a:xfrm>
            <a:off x="2450592" y="4864608"/>
            <a:ext cx="3328416"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FFFFFF"/>
                </a:solidFill>
                <a:latin typeface="Arial" pitchFamily="34" charset="0"/>
                <a:ea typeface="Arial" pitchFamily="34" charset="-122"/>
                <a:cs typeface="Arial" pitchFamily="34" charset="-120"/>
              </a:rPr>
              <a:t>Règles et composants</a:t>
            </a:r>
            <a:endParaRPr lang="fr-FR" sz="1200" dirty="0"/>
          </a:p>
        </p:txBody>
      </p:sp>
      <p:sp>
        <p:nvSpPr>
          <p:cNvPr id="30" name="Shape 28"/>
          <p:cNvSpPr/>
          <p:nvPr/>
        </p:nvSpPr>
        <p:spPr>
          <a:xfrm>
            <a:off x="8101584" y="1709928"/>
            <a:ext cx="3474720" cy="758952"/>
          </a:xfrm>
          <a:prstGeom prst="rect">
            <a:avLst/>
          </a:prstGeom>
          <a:solidFill>
            <a:srgbClr val="C52F3C"/>
          </a:solidFill>
          <a:ln w="8890">
            <a:solidFill>
              <a:srgbClr val="C52F3C"/>
            </a:solidFill>
            <a:prstDash val="solid"/>
          </a:ln>
        </p:spPr>
        <p:txBody>
          <a:bodyPr/>
          <a:lstStyle/>
          <a:p>
            <a:endParaRPr lang="fr-FR"/>
          </a:p>
        </p:txBody>
      </p:sp>
      <p:sp>
        <p:nvSpPr>
          <p:cNvPr id="31" name="Text 29"/>
          <p:cNvSpPr/>
          <p:nvPr/>
        </p:nvSpPr>
        <p:spPr>
          <a:xfrm>
            <a:off x="8174736" y="1819656"/>
            <a:ext cx="3328416"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800" b="1" dirty="0">
                <a:solidFill>
                  <a:srgbClr val="FFFFFF"/>
                </a:solidFill>
                <a:latin typeface="Arial" pitchFamily="34" charset="0"/>
                <a:ea typeface="Arial" pitchFamily="34" charset="-122"/>
                <a:cs typeface="Arial" pitchFamily="34" charset="-120"/>
              </a:rPr>
              <a:t>Recette / acceptation</a:t>
            </a:r>
            <a:endParaRPr lang="fr-FR" sz="1800" dirty="0"/>
          </a:p>
        </p:txBody>
      </p:sp>
      <p:sp>
        <p:nvSpPr>
          <p:cNvPr id="32" name="Text 30"/>
          <p:cNvSpPr/>
          <p:nvPr/>
        </p:nvSpPr>
        <p:spPr>
          <a:xfrm>
            <a:off x="8174736" y="2176272"/>
            <a:ext cx="3328416"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FFFFFF"/>
                </a:solidFill>
                <a:latin typeface="Arial" pitchFamily="34" charset="0"/>
                <a:ea typeface="Arial" pitchFamily="34" charset="-122"/>
                <a:cs typeface="Arial" pitchFamily="34" charset="-120"/>
              </a:rPr>
              <a:t>Décision du client</a:t>
            </a:r>
            <a:endParaRPr lang="fr-FR" sz="1200" dirty="0"/>
          </a:p>
        </p:txBody>
      </p:sp>
      <p:sp>
        <p:nvSpPr>
          <p:cNvPr id="33" name="Shape 31"/>
          <p:cNvSpPr/>
          <p:nvPr/>
        </p:nvSpPr>
        <p:spPr>
          <a:xfrm>
            <a:off x="7507224" y="2606040"/>
            <a:ext cx="3474720" cy="758952"/>
          </a:xfrm>
          <a:prstGeom prst="rect">
            <a:avLst/>
          </a:prstGeom>
          <a:solidFill>
            <a:srgbClr val="C52F3C"/>
          </a:solidFill>
          <a:ln w="8890">
            <a:solidFill>
              <a:srgbClr val="C52F3C"/>
            </a:solidFill>
            <a:prstDash val="solid"/>
          </a:ln>
        </p:spPr>
        <p:txBody>
          <a:bodyPr/>
          <a:lstStyle/>
          <a:p>
            <a:endParaRPr lang="fr-FR"/>
          </a:p>
        </p:txBody>
      </p:sp>
      <p:sp>
        <p:nvSpPr>
          <p:cNvPr id="34" name="Text 32"/>
          <p:cNvSpPr/>
          <p:nvPr/>
        </p:nvSpPr>
        <p:spPr>
          <a:xfrm>
            <a:off x="7580376" y="2715768"/>
            <a:ext cx="3328416"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800" b="1" dirty="0">
                <a:solidFill>
                  <a:srgbClr val="FFFFFF"/>
                </a:solidFill>
                <a:latin typeface="Arial" pitchFamily="34" charset="0"/>
                <a:ea typeface="Arial" pitchFamily="34" charset="-122"/>
                <a:cs typeface="Arial" pitchFamily="34" charset="-120"/>
              </a:rPr>
              <a:t>Tests système</a:t>
            </a:r>
            <a:endParaRPr lang="fr-FR" sz="1800" dirty="0"/>
          </a:p>
        </p:txBody>
      </p:sp>
      <p:sp>
        <p:nvSpPr>
          <p:cNvPr id="35" name="Text 33"/>
          <p:cNvSpPr/>
          <p:nvPr/>
        </p:nvSpPr>
        <p:spPr>
          <a:xfrm>
            <a:off x="7580376" y="3072384"/>
            <a:ext cx="3328416"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FFFFFF"/>
                </a:solidFill>
                <a:latin typeface="Arial" pitchFamily="34" charset="0"/>
                <a:ea typeface="Arial" pitchFamily="34" charset="-122"/>
                <a:cs typeface="Arial" pitchFamily="34" charset="-120"/>
              </a:rPr>
              <a:t>Parcours complet</a:t>
            </a:r>
            <a:endParaRPr lang="fr-FR" sz="1200" dirty="0"/>
          </a:p>
        </p:txBody>
      </p:sp>
      <p:sp>
        <p:nvSpPr>
          <p:cNvPr id="36" name="Shape 34"/>
          <p:cNvSpPr/>
          <p:nvPr/>
        </p:nvSpPr>
        <p:spPr>
          <a:xfrm>
            <a:off x="6912864" y="3502152"/>
            <a:ext cx="3474720" cy="758952"/>
          </a:xfrm>
          <a:prstGeom prst="rect">
            <a:avLst/>
          </a:prstGeom>
          <a:solidFill>
            <a:srgbClr val="C52F3C"/>
          </a:solidFill>
          <a:ln w="8890">
            <a:solidFill>
              <a:srgbClr val="C52F3C"/>
            </a:solidFill>
            <a:prstDash val="solid"/>
          </a:ln>
        </p:spPr>
        <p:txBody>
          <a:bodyPr/>
          <a:lstStyle/>
          <a:p>
            <a:endParaRPr lang="fr-FR"/>
          </a:p>
        </p:txBody>
      </p:sp>
      <p:sp>
        <p:nvSpPr>
          <p:cNvPr id="37" name="Text 35"/>
          <p:cNvSpPr/>
          <p:nvPr/>
        </p:nvSpPr>
        <p:spPr>
          <a:xfrm>
            <a:off x="6986016" y="3611880"/>
            <a:ext cx="3328416"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800" b="1" dirty="0">
                <a:solidFill>
                  <a:srgbClr val="FFFFFF"/>
                </a:solidFill>
                <a:latin typeface="Arial" pitchFamily="34" charset="0"/>
                <a:ea typeface="Arial" pitchFamily="34" charset="-122"/>
                <a:cs typeface="Arial" pitchFamily="34" charset="-120"/>
              </a:rPr>
              <a:t>Tests d'intégration</a:t>
            </a:r>
            <a:endParaRPr lang="fr-FR" sz="1800" dirty="0"/>
          </a:p>
        </p:txBody>
      </p:sp>
      <p:sp>
        <p:nvSpPr>
          <p:cNvPr id="38" name="Text 36"/>
          <p:cNvSpPr/>
          <p:nvPr/>
        </p:nvSpPr>
        <p:spPr>
          <a:xfrm>
            <a:off x="6986016" y="3968496"/>
            <a:ext cx="3328416"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FFFFFF"/>
                </a:solidFill>
                <a:latin typeface="Arial" pitchFamily="34" charset="0"/>
                <a:ea typeface="Arial" pitchFamily="34" charset="-122"/>
                <a:cs typeface="Arial" pitchFamily="34" charset="-120"/>
              </a:rPr>
              <a:t>Composants assemblés</a:t>
            </a:r>
            <a:endParaRPr lang="fr-FR" sz="1200" dirty="0"/>
          </a:p>
        </p:txBody>
      </p:sp>
      <p:sp>
        <p:nvSpPr>
          <p:cNvPr id="39" name="Shape 37"/>
          <p:cNvSpPr/>
          <p:nvPr/>
        </p:nvSpPr>
        <p:spPr>
          <a:xfrm>
            <a:off x="6318504" y="4398264"/>
            <a:ext cx="3474720" cy="758952"/>
          </a:xfrm>
          <a:prstGeom prst="rect">
            <a:avLst/>
          </a:prstGeom>
          <a:solidFill>
            <a:srgbClr val="C52F3C"/>
          </a:solidFill>
          <a:ln w="8890">
            <a:solidFill>
              <a:srgbClr val="C52F3C"/>
            </a:solidFill>
            <a:prstDash val="solid"/>
          </a:ln>
        </p:spPr>
        <p:txBody>
          <a:bodyPr/>
          <a:lstStyle/>
          <a:p>
            <a:endParaRPr lang="fr-FR"/>
          </a:p>
        </p:txBody>
      </p:sp>
      <p:sp>
        <p:nvSpPr>
          <p:cNvPr id="40" name="Text 38"/>
          <p:cNvSpPr/>
          <p:nvPr/>
        </p:nvSpPr>
        <p:spPr>
          <a:xfrm>
            <a:off x="6391656" y="4507992"/>
            <a:ext cx="3328416"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800" b="1" dirty="0">
                <a:solidFill>
                  <a:srgbClr val="FFFFFF"/>
                </a:solidFill>
                <a:latin typeface="Arial" pitchFamily="34" charset="0"/>
                <a:ea typeface="Arial" pitchFamily="34" charset="-122"/>
                <a:cs typeface="Arial" pitchFamily="34" charset="-120"/>
              </a:rPr>
              <a:t>Tests unitaires</a:t>
            </a:r>
            <a:endParaRPr lang="fr-FR" sz="1800" dirty="0"/>
          </a:p>
        </p:txBody>
      </p:sp>
      <p:sp>
        <p:nvSpPr>
          <p:cNvPr id="41" name="Text 39"/>
          <p:cNvSpPr/>
          <p:nvPr/>
        </p:nvSpPr>
        <p:spPr>
          <a:xfrm>
            <a:off x="6391656" y="4864608"/>
            <a:ext cx="3328416"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FFFFFF"/>
                </a:solidFill>
                <a:latin typeface="Arial" pitchFamily="34" charset="0"/>
                <a:ea typeface="Arial" pitchFamily="34" charset="-122"/>
                <a:cs typeface="Arial" pitchFamily="34" charset="-120"/>
              </a:rPr>
              <a:t>Fonctions isolées</a:t>
            </a:r>
            <a:endParaRPr lang="fr-FR" sz="1200" dirty="0"/>
          </a:p>
        </p:txBody>
      </p:sp>
      <p:sp>
        <p:nvSpPr>
          <p:cNvPr id="42" name="Shape 40"/>
          <p:cNvSpPr/>
          <p:nvPr/>
        </p:nvSpPr>
        <p:spPr>
          <a:xfrm>
            <a:off x="4136137" y="5157216"/>
            <a:ext cx="984502" cy="384048"/>
          </a:xfrm>
          <a:prstGeom prst="line">
            <a:avLst/>
          </a:prstGeom>
          <a:solidFill>
            <a:srgbClr val="FFFFFF">
              <a:alpha val="0"/>
            </a:srgbClr>
          </a:solidFill>
          <a:ln w="16510">
            <a:solidFill>
              <a:srgbClr val="5B6770"/>
            </a:solidFill>
            <a:prstDash val="solid"/>
          </a:ln>
        </p:spPr>
        <p:txBody>
          <a:bodyPr/>
          <a:lstStyle/>
          <a:p>
            <a:endParaRPr lang="fr-FR"/>
          </a:p>
        </p:txBody>
      </p:sp>
      <p:sp>
        <p:nvSpPr>
          <p:cNvPr id="43" name="Shape 41"/>
          <p:cNvSpPr/>
          <p:nvPr/>
        </p:nvSpPr>
        <p:spPr>
          <a:xfrm flipH="1">
            <a:off x="7248698" y="5193791"/>
            <a:ext cx="807166" cy="365759"/>
          </a:xfrm>
          <a:prstGeom prst="line">
            <a:avLst/>
          </a:prstGeom>
          <a:solidFill>
            <a:srgbClr val="FFFFFF">
              <a:alpha val="0"/>
            </a:srgbClr>
          </a:solidFill>
          <a:ln w="16510">
            <a:solidFill>
              <a:srgbClr val="5B6770"/>
            </a:solidFill>
            <a:prstDash val="solid"/>
          </a:ln>
        </p:spPr>
        <p:txBody>
          <a:bodyPr/>
          <a:lstStyle/>
          <a:p>
            <a:endParaRPr lang="fr-FR"/>
          </a:p>
        </p:txBody>
      </p:sp>
      <p:sp>
        <p:nvSpPr>
          <p:cNvPr id="44" name="Shape 42"/>
          <p:cNvSpPr/>
          <p:nvPr/>
        </p:nvSpPr>
        <p:spPr>
          <a:xfrm>
            <a:off x="4507992" y="5559552"/>
            <a:ext cx="3154680" cy="566928"/>
          </a:xfrm>
          <a:prstGeom prst="rect">
            <a:avLst/>
          </a:prstGeom>
          <a:solidFill>
            <a:srgbClr val="F0F3F5"/>
          </a:solidFill>
          <a:ln w="8890">
            <a:solidFill>
              <a:srgbClr val="F0F3F5"/>
            </a:solidFill>
            <a:prstDash val="solid"/>
          </a:ln>
        </p:spPr>
        <p:txBody>
          <a:bodyPr/>
          <a:lstStyle/>
          <a:p>
            <a:endParaRPr lang="fr-FR"/>
          </a:p>
        </p:txBody>
      </p:sp>
      <p:sp>
        <p:nvSpPr>
          <p:cNvPr id="45" name="Text 43"/>
          <p:cNvSpPr/>
          <p:nvPr/>
        </p:nvSpPr>
        <p:spPr>
          <a:xfrm>
            <a:off x="4636008" y="5669280"/>
            <a:ext cx="2898648" cy="3017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2100" b="1" dirty="0">
                <a:solidFill>
                  <a:srgbClr val="203847"/>
                </a:solidFill>
                <a:latin typeface="Arial" pitchFamily="34" charset="0"/>
                <a:ea typeface="Arial" pitchFamily="34" charset="-122"/>
                <a:cs typeface="Arial" pitchFamily="34" charset="-120"/>
              </a:rPr>
              <a:t>Réalisation</a:t>
            </a:r>
            <a:endParaRPr lang="fr-FR"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txBody>
          <a:bodyPr/>
          <a:lstStyle/>
          <a:p>
            <a:endParaRPr lang="fr-FR"/>
          </a:p>
        </p:txBody>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kern="0" spc="130" dirty="0">
                <a:solidFill>
                  <a:srgbClr val="5B6770"/>
                </a:solidFill>
                <a:latin typeface="Arial" pitchFamily="34" charset="0"/>
                <a:ea typeface="Arial" pitchFamily="34" charset="-122"/>
                <a:cs typeface="Arial" pitchFamily="34" charset="-120"/>
              </a:rPr>
              <a:t>CONCEPTION GÉNÉRALE</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3000" b="1" dirty="0">
                <a:solidFill>
                  <a:srgbClr val="203847"/>
                </a:solidFill>
                <a:latin typeface="Arial" pitchFamily="34" charset="0"/>
                <a:ea typeface="Arial" pitchFamily="34" charset="-122"/>
                <a:cs typeface="Arial" pitchFamily="34" charset="-120"/>
              </a:rPr>
              <a:t>Une entrée web, des données en zone privée</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txBody>
          <a:bodyPr/>
          <a:lstStyle/>
          <a:p>
            <a:endParaRPr lang="fr-FR"/>
          </a:p>
        </p:txBody>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900" dirty="0">
                <a:solidFill>
                  <a:srgbClr val="5B6770"/>
                </a:solidFill>
                <a:latin typeface="Arial" pitchFamily="34" charset="0"/>
                <a:ea typeface="Arial" pitchFamily="34" charset="-122"/>
                <a:cs typeface="Arial" pitchFamily="34" charset="-120"/>
              </a:rPr>
              <a:t>Verisure | RGPD-01 | Entretien PDG</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r">
              <a:buNone/>
            </a:pPr>
            <a:r>
              <a:rPr lang="fr-FR" altLang="en-US" sz="1000" dirty="0">
                <a:solidFill>
                  <a:srgbClr val="5B6770"/>
                </a:solidFill>
                <a:latin typeface="Arial" pitchFamily="34" charset="0"/>
                <a:ea typeface="Arial" pitchFamily="34" charset="-122"/>
                <a:cs typeface="Arial" pitchFamily="34" charset="-120"/>
              </a:rPr>
              <a:t>4</a:t>
            </a:r>
            <a:endParaRPr lang="fr-FR" sz="1000" dirty="0"/>
          </a:p>
        </p:txBody>
      </p:sp>
      <p:sp>
        <p:nvSpPr>
          <p:cNvPr id="8" name="Shape 6"/>
          <p:cNvSpPr/>
          <p:nvPr/>
        </p:nvSpPr>
        <p:spPr>
          <a:xfrm>
            <a:off x="5559552" y="1609344"/>
            <a:ext cx="6071616" cy="2039112"/>
          </a:xfrm>
          <a:prstGeom prst="rect">
            <a:avLst/>
          </a:prstGeom>
          <a:solidFill>
            <a:srgbClr val="F0F3F5"/>
          </a:solidFill>
          <a:ln w="8890">
            <a:solidFill>
              <a:srgbClr val="F0F3F5"/>
            </a:solidFill>
            <a:prstDash val="solid"/>
          </a:ln>
        </p:spPr>
        <p:txBody>
          <a:bodyPr/>
          <a:lstStyle/>
          <a:p>
            <a:endParaRPr lang="fr-FR"/>
          </a:p>
        </p:txBody>
      </p:sp>
      <p:sp>
        <p:nvSpPr>
          <p:cNvPr id="9" name="Text 7"/>
          <p:cNvSpPr/>
          <p:nvPr/>
        </p:nvSpPr>
        <p:spPr>
          <a:xfrm>
            <a:off x="5788152" y="1709928"/>
            <a:ext cx="5394960" cy="2194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kern="0" spc="100" dirty="0">
                <a:solidFill>
                  <a:srgbClr val="5B6770"/>
                </a:solidFill>
                <a:latin typeface="Arial" pitchFamily="34" charset="0"/>
                <a:ea typeface="Arial" pitchFamily="34" charset="-122"/>
                <a:cs typeface="Arial" pitchFamily="34" charset="-120"/>
              </a:rPr>
              <a:t>NOTRE RÉSEAU PRIVÉ</a:t>
            </a:r>
            <a:endParaRPr lang="fr-FR" sz="1100" dirty="0"/>
          </a:p>
        </p:txBody>
      </p:sp>
      <p:sp>
        <p:nvSpPr>
          <p:cNvPr id="10" name="Shape 8"/>
          <p:cNvSpPr/>
          <p:nvPr/>
        </p:nvSpPr>
        <p:spPr>
          <a:xfrm>
            <a:off x="548640" y="2157984"/>
            <a:ext cx="1737360" cy="1033272"/>
          </a:xfrm>
          <a:prstGeom prst="rect">
            <a:avLst/>
          </a:prstGeom>
          <a:solidFill>
            <a:srgbClr val="F0F3F5"/>
          </a:solidFill>
          <a:ln w="8890">
            <a:solidFill>
              <a:srgbClr val="F0F3F5"/>
            </a:solidFill>
            <a:prstDash val="solid"/>
          </a:ln>
        </p:spPr>
        <p:txBody>
          <a:bodyPr/>
          <a:lstStyle/>
          <a:p>
            <a:endParaRPr lang="fr-FR"/>
          </a:p>
        </p:txBody>
      </p:sp>
      <p:sp>
        <p:nvSpPr>
          <p:cNvPr id="11" name="Text 9"/>
          <p:cNvSpPr/>
          <p:nvPr/>
        </p:nvSpPr>
        <p:spPr>
          <a:xfrm>
            <a:off x="640080" y="2340864"/>
            <a:ext cx="1554480"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2000" b="1" dirty="0">
                <a:solidFill>
                  <a:srgbClr val="203847"/>
                </a:solidFill>
                <a:latin typeface="Arial" pitchFamily="34" charset="0"/>
                <a:ea typeface="Arial" pitchFamily="34" charset="-122"/>
                <a:cs typeface="Arial" pitchFamily="34" charset="-120"/>
              </a:rPr>
              <a:t>Client</a:t>
            </a:r>
            <a:endParaRPr lang="fr-FR" sz="2000" dirty="0"/>
          </a:p>
        </p:txBody>
      </p:sp>
      <p:sp>
        <p:nvSpPr>
          <p:cNvPr id="12" name="Text 10"/>
          <p:cNvSpPr/>
          <p:nvPr/>
        </p:nvSpPr>
        <p:spPr>
          <a:xfrm>
            <a:off x="640080" y="2743200"/>
            <a:ext cx="1554480" cy="2560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400" dirty="0">
                <a:solidFill>
                  <a:srgbClr val="203847"/>
                </a:solidFill>
                <a:latin typeface="Arial" pitchFamily="34" charset="0"/>
                <a:ea typeface="Arial" pitchFamily="34" charset="-122"/>
                <a:cs typeface="Arial" pitchFamily="34" charset="-120"/>
              </a:rPr>
              <a:t>Navigateur</a:t>
            </a:r>
            <a:endParaRPr lang="fr-FR" sz="1400" dirty="0"/>
          </a:p>
        </p:txBody>
      </p:sp>
      <p:sp>
        <p:nvSpPr>
          <p:cNvPr id="13" name="Shape 11"/>
          <p:cNvSpPr/>
          <p:nvPr/>
        </p:nvSpPr>
        <p:spPr>
          <a:xfrm>
            <a:off x="2788920" y="2157984"/>
            <a:ext cx="2029968" cy="1033272"/>
          </a:xfrm>
          <a:prstGeom prst="rect">
            <a:avLst/>
          </a:prstGeom>
          <a:solidFill>
            <a:srgbClr val="203847"/>
          </a:solidFill>
          <a:ln w="8890">
            <a:solidFill>
              <a:srgbClr val="203847"/>
            </a:solidFill>
            <a:prstDash val="solid"/>
          </a:ln>
        </p:spPr>
        <p:txBody>
          <a:bodyPr/>
          <a:lstStyle/>
          <a:p>
            <a:endParaRPr lang="fr-FR"/>
          </a:p>
        </p:txBody>
      </p:sp>
      <p:sp>
        <p:nvSpPr>
          <p:cNvPr id="14" name="Text 12"/>
          <p:cNvSpPr/>
          <p:nvPr/>
        </p:nvSpPr>
        <p:spPr>
          <a:xfrm>
            <a:off x="2880360" y="2340864"/>
            <a:ext cx="1847088"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2000" b="1" dirty="0">
                <a:solidFill>
                  <a:srgbClr val="FFFFFF"/>
                </a:solidFill>
                <a:latin typeface="Arial" pitchFamily="34" charset="0"/>
                <a:ea typeface="Arial" pitchFamily="34" charset="-122"/>
                <a:cs typeface="Arial" pitchFamily="34" charset="-120"/>
              </a:rPr>
              <a:t>Passerelle</a:t>
            </a:r>
            <a:endParaRPr lang="fr-FR" sz="2000" dirty="0"/>
          </a:p>
        </p:txBody>
      </p:sp>
      <p:sp>
        <p:nvSpPr>
          <p:cNvPr id="15" name="Text 13"/>
          <p:cNvSpPr/>
          <p:nvPr/>
        </p:nvSpPr>
        <p:spPr>
          <a:xfrm>
            <a:off x="2880360" y="2743200"/>
            <a:ext cx="1847088" cy="2560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400" dirty="0">
                <a:solidFill>
                  <a:srgbClr val="FFFFFF"/>
                </a:solidFill>
                <a:latin typeface="Arial" pitchFamily="34" charset="0"/>
                <a:ea typeface="Arial" pitchFamily="34" charset="-122"/>
                <a:cs typeface="Arial" pitchFamily="34" charset="-120"/>
              </a:rPr>
              <a:t>HTTPS / port 443</a:t>
            </a:r>
            <a:endParaRPr lang="fr-FR" sz="1400" dirty="0"/>
          </a:p>
        </p:txBody>
      </p:sp>
      <p:sp>
        <p:nvSpPr>
          <p:cNvPr id="16" name="Shape 14"/>
          <p:cNvSpPr/>
          <p:nvPr/>
        </p:nvSpPr>
        <p:spPr>
          <a:xfrm>
            <a:off x="5806440" y="2157984"/>
            <a:ext cx="2276856" cy="1033272"/>
          </a:xfrm>
          <a:prstGeom prst="rect">
            <a:avLst/>
          </a:prstGeom>
          <a:solidFill>
            <a:srgbClr val="203847"/>
          </a:solidFill>
          <a:ln w="8890">
            <a:solidFill>
              <a:srgbClr val="203847"/>
            </a:solidFill>
            <a:prstDash val="solid"/>
          </a:ln>
        </p:spPr>
        <p:txBody>
          <a:bodyPr/>
          <a:lstStyle/>
          <a:p>
            <a:endParaRPr lang="fr-FR"/>
          </a:p>
        </p:txBody>
      </p:sp>
      <p:sp>
        <p:nvSpPr>
          <p:cNvPr id="17" name="Text 15"/>
          <p:cNvSpPr/>
          <p:nvPr/>
        </p:nvSpPr>
        <p:spPr>
          <a:xfrm>
            <a:off x="5897880" y="2340864"/>
            <a:ext cx="2093976"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2000" b="1" dirty="0">
                <a:solidFill>
                  <a:srgbClr val="FFFFFF"/>
                </a:solidFill>
                <a:latin typeface="Arial" pitchFamily="34" charset="0"/>
                <a:ea typeface="Arial" pitchFamily="34" charset="-122"/>
                <a:cs typeface="Arial" pitchFamily="34" charset="-120"/>
              </a:rPr>
              <a:t>Application</a:t>
            </a:r>
            <a:endParaRPr lang="fr-FR" sz="2000" dirty="0"/>
          </a:p>
        </p:txBody>
      </p:sp>
      <p:sp>
        <p:nvSpPr>
          <p:cNvPr id="18" name="Text 16"/>
          <p:cNvSpPr/>
          <p:nvPr/>
        </p:nvSpPr>
        <p:spPr>
          <a:xfrm>
            <a:off x="5897880" y="2743200"/>
            <a:ext cx="2093976" cy="2560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400" dirty="0">
                <a:solidFill>
                  <a:srgbClr val="FFFFFF"/>
                </a:solidFill>
                <a:latin typeface="Arial" pitchFamily="34" charset="0"/>
                <a:ea typeface="Arial" pitchFamily="34" charset="-122"/>
                <a:cs typeface="Arial" pitchFamily="34" charset="-120"/>
              </a:rPr>
              <a:t>Contrôle des droits</a:t>
            </a:r>
            <a:endParaRPr lang="fr-FR" sz="1400" dirty="0"/>
          </a:p>
        </p:txBody>
      </p:sp>
      <p:sp>
        <p:nvSpPr>
          <p:cNvPr id="19" name="Shape 17"/>
          <p:cNvSpPr/>
          <p:nvPr/>
        </p:nvSpPr>
        <p:spPr>
          <a:xfrm>
            <a:off x="9208008" y="2157984"/>
            <a:ext cx="2185416" cy="1033272"/>
          </a:xfrm>
          <a:prstGeom prst="rect">
            <a:avLst/>
          </a:prstGeom>
          <a:solidFill>
            <a:srgbClr val="FFFFFF"/>
          </a:solidFill>
          <a:ln w="8890">
            <a:solidFill>
              <a:srgbClr val="FFFFFF"/>
            </a:solidFill>
            <a:prstDash val="solid"/>
          </a:ln>
        </p:spPr>
        <p:txBody>
          <a:bodyPr/>
          <a:lstStyle/>
          <a:p>
            <a:endParaRPr lang="fr-FR"/>
          </a:p>
        </p:txBody>
      </p:sp>
      <p:sp>
        <p:nvSpPr>
          <p:cNvPr id="20" name="Text 18"/>
          <p:cNvSpPr/>
          <p:nvPr/>
        </p:nvSpPr>
        <p:spPr>
          <a:xfrm>
            <a:off x="9299448" y="2340864"/>
            <a:ext cx="2002536"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2000" b="1" dirty="0">
                <a:solidFill>
                  <a:srgbClr val="203847"/>
                </a:solidFill>
                <a:latin typeface="Arial" pitchFamily="34" charset="0"/>
                <a:ea typeface="Arial" pitchFamily="34" charset="-122"/>
                <a:cs typeface="Arial" pitchFamily="34" charset="-120"/>
              </a:rPr>
              <a:t>Base SQL</a:t>
            </a:r>
            <a:endParaRPr lang="fr-FR" sz="2000" dirty="0"/>
          </a:p>
        </p:txBody>
      </p:sp>
      <p:sp>
        <p:nvSpPr>
          <p:cNvPr id="21" name="Text 19"/>
          <p:cNvSpPr/>
          <p:nvPr/>
        </p:nvSpPr>
        <p:spPr>
          <a:xfrm>
            <a:off x="9299448" y="2743200"/>
            <a:ext cx="2002536" cy="2560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400" dirty="0">
                <a:solidFill>
                  <a:srgbClr val="203847"/>
                </a:solidFill>
                <a:latin typeface="Arial" pitchFamily="34" charset="0"/>
                <a:ea typeface="Arial" pitchFamily="34" charset="-122"/>
                <a:cs typeface="Arial" pitchFamily="34" charset="-120"/>
              </a:rPr>
              <a:t>Aucun accès public</a:t>
            </a:r>
            <a:endParaRPr lang="fr-FR" sz="1400" dirty="0"/>
          </a:p>
        </p:txBody>
      </p:sp>
      <p:sp>
        <p:nvSpPr>
          <p:cNvPr id="22" name="Shape 20"/>
          <p:cNvSpPr/>
          <p:nvPr/>
        </p:nvSpPr>
        <p:spPr>
          <a:xfrm>
            <a:off x="2322576" y="2679192"/>
            <a:ext cx="420624" cy="0"/>
          </a:xfrm>
          <a:prstGeom prst="line">
            <a:avLst/>
          </a:prstGeom>
          <a:solidFill>
            <a:srgbClr val="FFFFFF">
              <a:alpha val="0"/>
            </a:srgbClr>
          </a:solidFill>
          <a:ln w="25400">
            <a:solidFill>
              <a:srgbClr val="C52F3C"/>
            </a:solidFill>
            <a:prstDash val="solid"/>
            <a:tailEnd type="triangle"/>
          </a:ln>
        </p:spPr>
        <p:txBody>
          <a:bodyPr/>
          <a:lstStyle/>
          <a:p>
            <a:endParaRPr lang="fr-FR"/>
          </a:p>
        </p:txBody>
      </p:sp>
      <p:sp>
        <p:nvSpPr>
          <p:cNvPr id="23" name="Shape 21"/>
          <p:cNvSpPr/>
          <p:nvPr/>
        </p:nvSpPr>
        <p:spPr>
          <a:xfrm>
            <a:off x="4846320" y="2679192"/>
            <a:ext cx="905256" cy="0"/>
          </a:xfrm>
          <a:prstGeom prst="line">
            <a:avLst/>
          </a:prstGeom>
          <a:solidFill>
            <a:srgbClr val="FFFFFF">
              <a:alpha val="0"/>
            </a:srgbClr>
          </a:solidFill>
          <a:ln w="25400">
            <a:solidFill>
              <a:srgbClr val="C52F3C"/>
            </a:solidFill>
            <a:prstDash val="solid"/>
            <a:tailEnd type="triangle"/>
          </a:ln>
        </p:spPr>
        <p:txBody>
          <a:bodyPr/>
          <a:lstStyle/>
          <a:p>
            <a:endParaRPr lang="fr-FR"/>
          </a:p>
        </p:txBody>
      </p:sp>
      <p:sp>
        <p:nvSpPr>
          <p:cNvPr id="24" name="Shape 22"/>
          <p:cNvSpPr/>
          <p:nvPr/>
        </p:nvSpPr>
        <p:spPr>
          <a:xfrm>
            <a:off x="8138160" y="2679192"/>
            <a:ext cx="1014984" cy="0"/>
          </a:xfrm>
          <a:prstGeom prst="line">
            <a:avLst/>
          </a:prstGeom>
          <a:solidFill>
            <a:srgbClr val="FFFFFF">
              <a:alpha val="0"/>
            </a:srgbClr>
          </a:solidFill>
          <a:ln w="25400">
            <a:solidFill>
              <a:srgbClr val="C52F3C"/>
            </a:solidFill>
            <a:prstDash val="solid"/>
            <a:tailEnd type="triangle"/>
          </a:ln>
        </p:spPr>
        <p:txBody>
          <a:bodyPr/>
          <a:lstStyle/>
          <a:p>
            <a:endParaRPr lang="fr-FR"/>
          </a:p>
        </p:txBody>
      </p:sp>
      <p:sp>
        <p:nvSpPr>
          <p:cNvPr id="25" name="Text 23"/>
          <p:cNvSpPr/>
          <p:nvPr/>
        </p:nvSpPr>
        <p:spPr>
          <a:xfrm>
            <a:off x="2176272" y="1737360"/>
            <a:ext cx="850392" cy="2560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5B6770"/>
                </a:solidFill>
                <a:latin typeface="Arial" pitchFamily="34" charset="0"/>
                <a:ea typeface="Arial" pitchFamily="34" charset="-122"/>
                <a:cs typeface="Arial" pitchFamily="34" charset="-120"/>
              </a:rPr>
              <a:t>Internet</a:t>
            </a:r>
            <a:endParaRPr lang="fr-FR" sz="1200" dirty="0"/>
          </a:p>
        </p:txBody>
      </p:sp>
      <p:sp>
        <p:nvSpPr>
          <p:cNvPr id="26" name="Text 24"/>
          <p:cNvSpPr/>
          <p:nvPr/>
        </p:nvSpPr>
        <p:spPr>
          <a:xfrm>
            <a:off x="4892040" y="1947672"/>
            <a:ext cx="621792" cy="4754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5B6770"/>
                </a:solidFill>
                <a:latin typeface="Arial" pitchFamily="34" charset="0"/>
                <a:ea typeface="Arial" pitchFamily="34" charset="-122"/>
                <a:cs typeface="Arial" pitchFamily="34" charset="-120"/>
              </a:rPr>
              <a:t>Liaison</a:t>
            </a:r>
            <a:endParaRPr lang="fr-FR" sz="1200" dirty="0"/>
          </a:p>
          <a:p>
            <a:pPr marL="0" indent="0" algn="ctr">
              <a:buNone/>
            </a:pPr>
            <a:r>
              <a:rPr lang="fr-FR" altLang="en-US" sz="1200" dirty="0">
                <a:solidFill>
                  <a:srgbClr val="5B6770"/>
                </a:solidFill>
                <a:latin typeface="Arial" pitchFamily="34" charset="0"/>
                <a:ea typeface="Arial" pitchFamily="34" charset="-122"/>
                <a:cs typeface="Arial" pitchFamily="34" charset="-120"/>
              </a:rPr>
              <a:t>interne</a:t>
            </a:r>
            <a:endParaRPr lang="fr-FR" sz="1200" dirty="0"/>
          </a:p>
        </p:txBody>
      </p:sp>
      <p:sp>
        <p:nvSpPr>
          <p:cNvPr id="27" name="Text 25"/>
          <p:cNvSpPr/>
          <p:nvPr/>
        </p:nvSpPr>
        <p:spPr>
          <a:xfrm>
            <a:off x="8183880" y="1956816"/>
            <a:ext cx="941832"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200" dirty="0">
                <a:solidFill>
                  <a:srgbClr val="5B6770"/>
                </a:solidFill>
                <a:latin typeface="Arial" pitchFamily="34" charset="0"/>
                <a:ea typeface="Arial" pitchFamily="34" charset="-122"/>
                <a:cs typeface="Arial" pitchFamily="34" charset="-120"/>
              </a:rPr>
              <a:t>Accès</a:t>
            </a:r>
            <a:endParaRPr lang="fr-FR" sz="1200" dirty="0"/>
          </a:p>
          <a:p>
            <a:pPr marL="0" indent="0" algn="ctr">
              <a:buNone/>
            </a:pPr>
            <a:r>
              <a:rPr lang="fr-FR" altLang="en-US" sz="1200" dirty="0">
                <a:solidFill>
                  <a:srgbClr val="5B6770"/>
                </a:solidFill>
                <a:latin typeface="Arial" pitchFamily="34" charset="0"/>
                <a:ea typeface="Arial" pitchFamily="34" charset="-122"/>
                <a:cs typeface="Arial" pitchFamily="34" charset="-120"/>
              </a:rPr>
              <a:t>limité</a:t>
            </a:r>
            <a:endParaRPr lang="fr-FR" sz="1200" dirty="0"/>
          </a:p>
        </p:txBody>
      </p:sp>
      <p:sp>
        <p:nvSpPr>
          <p:cNvPr id="28" name="Shape 26"/>
          <p:cNvSpPr/>
          <p:nvPr/>
        </p:nvSpPr>
        <p:spPr>
          <a:xfrm>
            <a:off x="5797296" y="4297680"/>
            <a:ext cx="2798064" cy="960120"/>
          </a:xfrm>
          <a:prstGeom prst="rect">
            <a:avLst/>
          </a:prstGeom>
          <a:solidFill>
            <a:srgbClr val="F0F3F5"/>
          </a:solidFill>
          <a:ln w="8890">
            <a:solidFill>
              <a:srgbClr val="F0F3F5"/>
            </a:solidFill>
            <a:prstDash val="solid"/>
          </a:ln>
        </p:spPr>
        <p:txBody>
          <a:bodyPr/>
          <a:lstStyle/>
          <a:p>
            <a:endParaRPr lang="fr-FR"/>
          </a:p>
        </p:txBody>
      </p:sp>
      <p:sp>
        <p:nvSpPr>
          <p:cNvPr id="29" name="Text 27"/>
          <p:cNvSpPr/>
          <p:nvPr/>
        </p:nvSpPr>
        <p:spPr>
          <a:xfrm>
            <a:off x="5907024" y="4453128"/>
            <a:ext cx="2578608" cy="3017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2100" b="1" dirty="0">
                <a:solidFill>
                  <a:srgbClr val="203847"/>
                </a:solidFill>
                <a:latin typeface="Arial" pitchFamily="34" charset="0"/>
                <a:ea typeface="Arial" pitchFamily="34" charset="-122"/>
                <a:cs typeface="Arial" pitchFamily="34" charset="-120"/>
              </a:rPr>
              <a:t>Interface Verisure</a:t>
            </a:r>
            <a:endParaRPr lang="fr-FR" sz="2100" dirty="0"/>
          </a:p>
        </p:txBody>
      </p:sp>
      <p:sp>
        <p:nvSpPr>
          <p:cNvPr id="30" name="Text 28"/>
          <p:cNvSpPr/>
          <p:nvPr/>
        </p:nvSpPr>
        <p:spPr>
          <a:xfrm>
            <a:off x="5907024" y="4846320"/>
            <a:ext cx="2578608"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fr-FR" altLang="en-US" sz="1400" dirty="0">
                <a:solidFill>
                  <a:srgbClr val="5B6770"/>
                </a:solidFill>
                <a:latin typeface="Arial" pitchFamily="34" charset="0"/>
                <a:ea typeface="Arial" pitchFamily="34" charset="-122"/>
                <a:cs typeface="Arial" pitchFamily="34" charset="-120"/>
              </a:rPr>
              <a:t>Autorisée, à confirmer</a:t>
            </a:r>
            <a:endParaRPr lang="fr-FR" sz="1400" dirty="0"/>
          </a:p>
        </p:txBody>
      </p:sp>
      <p:sp>
        <p:nvSpPr>
          <p:cNvPr id="31" name="Shape 29"/>
          <p:cNvSpPr/>
          <p:nvPr/>
        </p:nvSpPr>
        <p:spPr>
          <a:xfrm>
            <a:off x="6903720" y="3236976"/>
            <a:ext cx="0" cy="1005840"/>
          </a:xfrm>
          <a:prstGeom prst="line">
            <a:avLst/>
          </a:prstGeom>
          <a:solidFill>
            <a:srgbClr val="FFFFFF">
              <a:alpha val="0"/>
            </a:srgbClr>
          </a:solidFill>
          <a:ln w="25400">
            <a:solidFill>
              <a:srgbClr val="C52F3C"/>
            </a:solidFill>
            <a:prstDash val="solid"/>
            <a:tailEnd type="triangle"/>
          </a:ln>
        </p:spPr>
        <p:txBody>
          <a:bodyPr/>
          <a:lstStyle/>
          <a:p>
            <a:endParaRPr lang="fr-FR"/>
          </a:p>
        </p:txBody>
      </p:sp>
      <p:sp>
        <p:nvSpPr>
          <p:cNvPr id="32" name="Text 30"/>
          <p:cNvSpPr/>
          <p:nvPr/>
        </p:nvSpPr>
        <p:spPr>
          <a:xfrm>
            <a:off x="7242048" y="3730752"/>
            <a:ext cx="395020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dirty="0">
                <a:solidFill>
                  <a:srgbClr val="203847"/>
                </a:solidFill>
                <a:latin typeface="Arial" pitchFamily="34" charset="0"/>
                <a:ea typeface="Arial" pitchFamily="34" charset="-122"/>
                <a:cs typeface="Arial" pitchFamily="34" charset="-120"/>
              </a:rPr>
              <a:t>Appel HTTPS sortant</a:t>
            </a:r>
            <a:endParaRPr lang="fr-FR" sz="1700" dirty="0"/>
          </a:p>
          <a:p>
            <a:pPr marL="0" indent="0" algn="l">
              <a:buNone/>
            </a:pPr>
            <a:r>
              <a:rPr lang="fr-FR" altLang="en-US" sz="1700" dirty="0">
                <a:solidFill>
                  <a:srgbClr val="203847"/>
                </a:solidFill>
                <a:latin typeface="Arial" pitchFamily="34" charset="0"/>
                <a:ea typeface="Arial" pitchFamily="34" charset="-122"/>
                <a:cs typeface="Arial" pitchFamily="34" charset="-120"/>
              </a:rPr>
              <a:t>initié par notre serveur</a:t>
            </a:r>
            <a:endParaRPr lang="fr-FR" sz="1700" dirty="0"/>
          </a:p>
        </p:txBody>
      </p:sp>
      <p:sp>
        <p:nvSpPr>
          <p:cNvPr id="33" name="Text 31"/>
          <p:cNvSpPr/>
          <p:nvPr/>
        </p:nvSpPr>
        <p:spPr>
          <a:xfrm>
            <a:off x="566928" y="4005072"/>
            <a:ext cx="4681728" cy="5760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600" dirty="0">
                <a:solidFill>
                  <a:srgbClr val="5B6770"/>
                </a:solidFill>
                <a:latin typeface="Arial" pitchFamily="34" charset="0"/>
                <a:ea typeface="Arial" pitchFamily="34" charset="-122"/>
                <a:cs typeface="Arial" pitchFamily="34" charset="-120"/>
              </a:rPr>
              <a:t>Les flèches représentent les requêtes.</a:t>
            </a:r>
            <a:endParaRPr lang="fr-FR" sz="1600" dirty="0"/>
          </a:p>
          <a:p>
            <a:pPr marL="0" indent="0" algn="l">
              <a:buNone/>
            </a:pPr>
            <a:r>
              <a:rPr lang="fr-FR" altLang="en-US" sz="1600" dirty="0">
                <a:solidFill>
                  <a:srgbClr val="5B6770"/>
                </a:solidFill>
                <a:latin typeface="Arial" pitchFamily="34" charset="0"/>
                <a:ea typeface="Arial" pitchFamily="34" charset="-122"/>
                <a:cs typeface="Arial" pitchFamily="34" charset="-120"/>
              </a:rPr>
              <a:t>Les réponses reviennent sur la même connexion.</a:t>
            </a:r>
            <a:endParaRPr lang="fr-FR" sz="1600" dirty="0"/>
          </a:p>
        </p:txBody>
      </p:sp>
      <p:sp>
        <p:nvSpPr>
          <p:cNvPr id="34" name="Text 32"/>
          <p:cNvSpPr/>
          <p:nvPr/>
        </p:nvSpPr>
        <p:spPr>
          <a:xfrm>
            <a:off x="566928" y="4727448"/>
            <a:ext cx="4709160" cy="5303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600" dirty="0">
                <a:solidFill>
                  <a:srgbClr val="5B6770"/>
                </a:solidFill>
                <a:latin typeface="Arial" pitchFamily="34" charset="0"/>
                <a:ea typeface="Arial" pitchFamily="34" charset="-122"/>
                <a:cs typeface="Arial" pitchFamily="34" charset="-120"/>
              </a:rPr>
              <a:t>Administration : VPN et authentification renforcée.</a:t>
            </a:r>
            <a:endParaRPr lang="fr-FR" sz="1600" dirty="0"/>
          </a:p>
          <a:p>
            <a:pPr marL="0" indent="0" algn="l">
              <a:buNone/>
            </a:pPr>
            <a:r>
              <a:rPr lang="fr-FR" altLang="en-US" sz="1600" dirty="0">
                <a:solidFill>
                  <a:srgbClr val="5B6770"/>
                </a:solidFill>
                <a:latin typeface="Arial" pitchFamily="34" charset="0"/>
                <a:ea typeface="Arial" pitchFamily="34" charset="-122"/>
                <a:cs typeface="Arial" pitchFamily="34" charset="-120"/>
              </a:rPr>
              <a:t>Pas d'accès public direct à la base ni au serveur.</a:t>
            </a:r>
            <a:endParaRPr lang="fr-FR" sz="1600" dirty="0"/>
          </a:p>
        </p:txBody>
      </p:sp>
      <p:sp>
        <p:nvSpPr>
          <p:cNvPr id="35" name="Shape 33"/>
          <p:cNvSpPr/>
          <p:nvPr/>
        </p:nvSpPr>
        <p:spPr>
          <a:xfrm>
            <a:off x="548640" y="5596128"/>
            <a:ext cx="11082528" cy="676656"/>
          </a:xfrm>
          <a:prstGeom prst="rect">
            <a:avLst/>
          </a:prstGeom>
          <a:solidFill>
            <a:srgbClr val="F0F3F5"/>
          </a:solidFill>
          <a:ln w="8890">
            <a:solidFill>
              <a:srgbClr val="F0F3F5"/>
            </a:solidFill>
            <a:prstDash val="solid"/>
          </a:ln>
        </p:spPr>
        <p:txBody>
          <a:bodyPr/>
          <a:lstStyle/>
          <a:p>
            <a:endParaRPr lang="fr-FR"/>
          </a:p>
        </p:txBody>
      </p:sp>
      <p:sp>
        <p:nvSpPr>
          <p:cNvPr id="36" name="Text 34"/>
          <p:cNvSpPr/>
          <p:nvPr/>
        </p:nvSpPr>
        <p:spPr>
          <a:xfrm>
            <a:off x="740664" y="5669280"/>
            <a:ext cx="20574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b="1" dirty="0">
                <a:solidFill>
                  <a:srgbClr val="C52F3C"/>
                </a:solidFill>
                <a:latin typeface="Arial" pitchFamily="34" charset="0"/>
                <a:ea typeface="Arial" pitchFamily="34" charset="-122"/>
                <a:cs typeface="Arial" pitchFamily="34" charset="-120"/>
              </a:rPr>
              <a:t>Qualification</a:t>
            </a:r>
            <a:endParaRPr lang="fr-FR" sz="1700" dirty="0"/>
          </a:p>
        </p:txBody>
      </p:sp>
      <p:sp>
        <p:nvSpPr>
          <p:cNvPr id="37" name="Text 35"/>
          <p:cNvSpPr/>
          <p:nvPr/>
        </p:nvSpPr>
        <p:spPr>
          <a:xfrm>
            <a:off x="2926080" y="5669280"/>
            <a:ext cx="84582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dirty="0">
                <a:solidFill>
                  <a:srgbClr val="203847"/>
                </a:solidFill>
                <a:latin typeface="Arial" pitchFamily="34" charset="0"/>
                <a:ea typeface="Arial" pitchFamily="34" charset="-122"/>
                <a:cs typeface="Arial" pitchFamily="34" charset="-120"/>
              </a:rPr>
              <a:t>Jeux fictifs ; liaison fournisseur vérifiée sur un accès d’essai autorisé.</a:t>
            </a:r>
            <a:endParaRPr lang="fr-FR"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txBody>
          <a:bodyPr/>
          <a:lstStyle/>
          <a:p>
            <a:endParaRPr lang="fr-FR"/>
          </a:p>
        </p:txBody>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kern="0" spc="130" dirty="0">
                <a:solidFill>
                  <a:srgbClr val="5B6770"/>
                </a:solidFill>
                <a:latin typeface="Arial" pitchFamily="34" charset="0"/>
                <a:ea typeface="Arial" pitchFamily="34" charset="-122"/>
                <a:cs typeface="Arial" pitchFamily="34" charset="-120"/>
              </a:rPr>
              <a:t>UNE EXIGENCE, CINQ CRITÈRES</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3000" b="1" dirty="0">
                <a:solidFill>
                  <a:srgbClr val="203847"/>
                </a:solidFill>
                <a:latin typeface="Arial" pitchFamily="34" charset="0"/>
                <a:ea typeface="Arial" pitchFamily="34" charset="-122"/>
                <a:cs typeface="Arial" pitchFamily="34" charset="-120"/>
              </a:rPr>
              <a:t>RGPD-01 : plus que du chiffrement</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txBody>
          <a:bodyPr/>
          <a:lstStyle/>
          <a:p>
            <a:endParaRPr lang="fr-FR"/>
          </a:p>
        </p:txBody>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900" dirty="0">
                <a:solidFill>
                  <a:srgbClr val="5B6770"/>
                </a:solidFill>
                <a:latin typeface="Arial" pitchFamily="34" charset="0"/>
                <a:ea typeface="Arial" pitchFamily="34" charset="-122"/>
                <a:cs typeface="Arial" pitchFamily="34" charset="-120"/>
              </a:rPr>
              <a:t>Verisure | RGPD-01 | Entretien PDG</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r">
              <a:buNone/>
            </a:pPr>
            <a:r>
              <a:rPr lang="fr-FR" altLang="en-US" sz="1000" dirty="0">
                <a:solidFill>
                  <a:srgbClr val="5B6770"/>
                </a:solidFill>
                <a:latin typeface="Arial" pitchFamily="34" charset="0"/>
                <a:ea typeface="Arial" pitchFamily="34" charset="-122"/>
                <a:cs typeface="Arial" pitchFamily="34" charset="-120"/>
              </a:rPr>
              <a:t>5</a:t>
            </a:r>
            <a:endParaRPr lang="fr-FR" sz="1000" dirty="0"/>
          </a:p>
        </p:txBody>
      </p:sp>
      <p:sp>
        <p:nvSpPr>
          <p:cNvPr id="8" name="Shape 6"/>
          <p:cNvSpPr/>
          <p:nvPr/>
        </p:nvSpPr>
        <p:spPr>
          <a:xfrm>
            <a:off x="548640" y="1645920"/>
            <a:ext cx="11082528" cy="603504"/>
          </a:xfrm>
          <a:prstGeom prst="rect">
            <a:avLst/>
          </a:prstGeom>
          <a:solidFill>
            <a:srgbClr val="F0F3F5"/>
          </a:solidFill>
          <a:ln w="8890">
            <a:solidFill>
              <a:srgbClr val="F0F3F5"/>
            </a:solidFill>
            <a:prstDash val="solid"/>
          </a:ln>
        </p:spPr>
        <p:txBody>
          <a:bodyPr/>
          <a:lstStyle/>
          <a:p>
            <a:endParaRPr lang="fr-FR"/>
          </a:p>
        </p:txBody>
      </p:sp>
      <p:sp>
        <p:nvSpPr>
          <p:cNvPr id="9" name="Shape 7"/>
          <p:cNvSpPr/>
          <p:nvPr/>
        </p:nvSpPr>
        <p:spPr>
          <a:xfrm>
            <a:off x="731520" y="1792224"/>
            <a:ext cx="566928" cy="310896"/>
          </a:xfrm>
          <a:prstGeom prst="rect">
            <a:avLst/>
          </a:prstGeom>
          <a:solidFill>
            <a:srgbClr val="C52F3C"/>
          </a:solidFill>
          <a:ln w="8890">
            <a:solidFill>
              <a:srgbClr val="C52F3C"/>
            </a:solidFill>
            <a:prstDash val="solid"/>
          </a:ln>
        </p:spPr>
        <p:txBody>
          <a:bodyPr/>
          <a:lstStyle/>
          <a:p>
            <a:endParaRPr lang="fr-FR"/>
          </a:p>
        </p:txBody>
      </p:sp>
      <p:sp>
        <p:nvSpPr>
          <p:cNvPr id="10" name="Text 8"/>
          <p:cNvSpPr/>
          <p:nvPr/>
        </p:nvSpPr>
        <p:spPr>
          <a:xfrm>
            <a:off x="795528" y="1801368"/>
            <a:ext cx="438912"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dirty="0">
                <a:solidFill>
                  <a:srgbClr val="FFFFFF"/>
                </a:solidFill>
                <a:latin typeface="Arial" pitchFamily="34" charset="0"/>
                <a:ea typeface="Arial" pitchFamily="34" charset="-122"/>
                <a:cs typeface="Arial" pitchFamily="34" charset="-120"/>
              </a:rPr>
              <a:t>C1</a:t>
            </a:r>
            <a:endParaRPr lang="fr-FR" sz="1100" dirty="0"/>
          </a:p>
        </p:txBody>
      </p:sp>
      <p:sp>
        <p:nvSpPr>
          <p:cNvPr id="11" name="Text 9"/>
          <p:cNvSpPr/>
          <p:nvPr/>
        </p:nvSpPr>
        <p:spPr>
          <a:xfrm>
            <a:off x="1508760" y="1719072"/>
            <a:ext cx="3319272"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900" b="1" dirty="0">
                <a:solidFill>
                  <a:srgbClr val="203847"/>
                </a:solidFill>
                <a:latin typeface="Arial" pitchFamily="34" charset="0"/>
                <a:ea typeface="Arial" pitchFamily="34" charset="-122"/>
                <a:cs typeface="Arial" pitchFamily="34" charset="-120"/>
              </a:rPr>
              <a:t>Collecter le nécessaire</a:t>
            </a:r>
            <a:endParaRPr lang="fr-FR" sz="1900" dirty="0"/>
          </a:p>
        </p:txBody>
      </p:sp>
      <p:sp>
        <p:nvSpPr>
          <p:cNvPr id="12" name="Text 10"/>
          <p:cNvSpPr/>
          <p:nvPr/>
        </p:nvSpPr>
        <p:spPr>
          <a:xfrm>
            <a:off x="5074920" y="1709928"/>
            <a:ext cx="632764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800" dirty="0">
                <a:solidFill>
                  <a:srgbClr val="203847"/>
                </a:solidFill>
                <a:latin typeface="Arial" pitchFamily="34" charset="0"/>
                <a:ea typeface="Arial" pitchFamily="34" charset="-122"/>
                <a:cs typeface="Arial" pitchFamily="34" charset="-120"/>
              </a:rPr>
              <a:t>Les seuls états utiles, sans image ni historique.</a:t>
            </a:r>
            <a:endParaRPr lang="fr-FR" sz="1800" dirty="0"/>
          </a:p>
        </p:txBody>
      </p:sp>
      <p:sp>
        <p:nvSpPr>
          <p:cNvPr id="13" name="Shape 11"/>
          <p:cNvSpPr/>
          <p:nvPr/>
        </p:nvSpPr>
        <p:spPr>
          <a:xfrm>
            <a:off x="548640" y="2368296"/>
            <a:ext cx="11082528" cy="603504"/>
          </a:xfrm>
          <a:prstGeom prst="rect">
            <a:avLst/>
          </a:prstGeom>
          <a:solidFill>
            <a:srgbClr val="FFFFFF"/>
          </a:solidFill>
          <a:ln w="8890">
            <a:solidFill>
              <a:srgbClr val="FFFFFF"/>
            </a:solidFill>
            <a:prstDash val="solid"/>
          </a:ln>
        </p:spPr>
        <p:txBody>
          <a:bodyPr/>
          <a:lstStyle/>
          <a:p>
            <a:endParaRPr lang="fr-FR"/>
          </a:p>
        </p:txBody>
      </p:sp>
      <p:sp>
        <p:nvSpPr>
          <p:cNvPr id="14" name="Shape 12"/>
          <p:cNvSpPr/>
          <p:nvPr/>
        </p:nvSpPr>
        <p:spPr>
          <a:xfrm>
            <a:off x="731520" y="2514600"/>
            <a:ext cx="566928" cy="310896"/>
          </a:xfrm>
          <a:prstGeom prst="rect">
            <a:avLst/>
          </a:prstGeom>
          <a:solidFill>
            <a:srgbClr val="C52F3C"/>
          </a:solidFill>
          <a:ln w="8890">
            <a:solidFill>
              <a:srgbClr val="C52F3C"/>
            </a:solidFill>
            <a:prstDash val="solid"/>
          </a:ln>
        </p:spPr>
        <p:txBody>
          <a:bodyPr/>
          <a:lstStyle/>
          <a:p>
            <a:endParaRPr lang="fr-FR"/>
          </a:p>
        </p:txBody>
      </p:sp>
      <p:sp>
        <p:nvSpPr>
          <p:cNvPr id="15" name="Text 13"/>
          <p:cNvSpPr/>
          <p:nvPr/>
        </p:nvSpPr>
        <p:spPr>
          <a:xfrm>
            <a:off x="795528" y="2523744"/>
            <a:ext cx="438912"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dirty="0">
                <a:solidFill>
                  <a:srgbClr val="FFFFFF"/>
                </a:solidFill>
                <a:latin typeface="Arial" pitchFamily="34" charset="0"/>
                <a:ea typeface="Arial" pitchFamily="34" charset="-122"/>
                <a:cs typeface="Arial" pitchFamily="34" charset="-120"/>
              </a:rPr>
              <a:t>C2</a:t>
            </a:r>
            <a:endParaRPr lang="fr-FR" sz="1100" dirty="0"/>
          </a:p>
        </p:txBody>
      </p:sp>
      <p:sp>
        <p:nvSpPr>
          <p:cNvPr id="16" name="Text 14"/>
          <p:cNvSpPr/>
          <p:nvPr/>
        </p:nvSpPr>
        <p:spPr>
          <a:xfrm>
            <a:off x="1508760" y="2441448"/>
            <a:ext cx="3319272"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900" b="1" dirty="0">
                <a:solidFill>
                  <a:srgbClr val="203847"/>
                </a:solidFill>
                <a:latin typeface="Arial" pitchFamily="34" charset="0"/>
                <a:ea typeface="Arial" pitchFamily="34" charset="-122"/>
                <a:cs typeface="Arial" pitchFamily="34" charset="-120"/>
              </a:rPr>
              <a:t>Réserver l'accès</a:t>
            </a:r>
            <a:endParaRPr lang="fr-FR" sz="1900" dirty="0"/>
          </a:p>
        </p:txBody>
      </p:sp>
      <p:sp>
        <p:nvSpPr>
          <p:cNvPr id="17" name="Text 15"/>
          <p:cNvSpPr/>
          <p:nvPr/>
        </p:nvSpPr>
        <p:spPr>
          <a:xfrm>
            <a:off x="5074920" y="2432304"/>
            <a:ext cx="632764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800" dirty="0">
                <a:solidFill>
                  <a:srgbClr val="203847"/>
                </a:solidFill>
                <a:latin typeface="Arial" pitchFamily="34" charset="0"/>
                <a:ea typeface="Arial" pitchFamily="34" charset="-122"/>
                <a:cs typeface="Arial" pitchFamily="34" charset="-120"/>
              </a:rPr>
              <a:t>Un contrôle serveur pour chaque foyer demandé.</a:t>
            </a:r>
            <a:endParaRPr lang="fr-FR" sz="1800" dirty="0"/>
          </a:p>
        </p:txBody>
      </p:sp>
      <p:sp>
        <p:nvSpPr>
          <p:cNvPr id="18" name="Shape 16"/>
          <p:cNvSpPr/>
          <p:nvPr/>
        </p:nvSpPr>
        <p:spPr>
          <a:xfrm>
            <a:off x="548640" y="3090672"/>
            <a:ext cx="11082528" cy="603504"/>
          </a:xfrm>
          <a:prstGeom prst="rect">
            <a:avLst/>
          </a:prstGeom>
          <a:solidFill>
            <a:srgbClr val="F0F3F5"/>
          </a:solidFill>
          <a:ln w="8890">
            <a:solidFill>
              <a:srgbClr val="F0F3F5"/>
            </a:solidFill>
            <a:prstDash val="solid"/>
          </a:ln>
        </p:spPr>
        <p:txBody>
          <a:bodyPr/>
          <a:lstStyle/>
          <a:p>
            <a:endParaRPr lang="fr-FR"/>
          </a:p>
        </p:txBody>
      </p:sp>
      <p:sp>
        <p:nvSpPr>
          <p:cNvPr id="19" name="Shape 17"/>
          <p:cNvSpPr/>
          <p:nvPr/>
        </p:nvSpPr>
        <p:spPr>
          <a:xfrm>
            <a:off x="731520" y="3236976"/>
            <a:ext cx="566928" cy="310896"/>
          </a:xfrm>
          <a:prstGeom prst="rect">
            <a:avLst/>
          </a:prstGeom>
          <a:solidFill>
            <a:srgbClr val="C52F3C"/>
          </a:solidFill>
          <a:ln w="8890">
            <a:solidFill>
              <a:srgbClr val="C52F3C"/>
            </a:solidFill>
            <a:prstDash val="solid"/>
          </a:ln>
        </p:spPr>
        <p:txBody>
          <a:bodyPr/>
          <a:lstStyle/>
          <a:p>
            <a:endParaRPr lang="fr-FR"/>
          </a:p>
        </p:txBody>
      </p:sp>
      <p:sp>
        <p:nvSpPr>
          <p:cNvPr id="20" name="Text 18"/>
          <p:cNvSpPr/>
          <p:nvPr/>
        </p:nvSpPr>
        <p:spPr>
          <a:xfrm>
            <a:off x="795528" y="3246120"/>
            <a:ext cx="438912"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dirty="0">
                <a:solidFill>
                  <a:srgbClr val="FFFFFF"/>
                </a:solidFill>
                <a:latin typeface="Arial" pitchFamily="34" charset="0"/>
                <a:ea typeface="Arial" pitchFamily="34" charset="-122"/>
                <a:cs typeface="Arial" pitchFamily="34" charset="-120"/>
              </a:rPr>
              <a:t>C3</a:t>
            </a:r>
            <a:endParaRPr lang="fr-FR" sz="1100" dirty="0"/>
          </a:p>
        </p:txBody>
      </p:sp>
      <p:sp>
        <p:nvSpPr>
          <p:cNvPr id="21" name="Text 19"/>
          <p:cNvSpPr/>
          <p:nvPr/>
        </p:nvSpPr>
        <p:spPr>
          <a:xfrm>
            <a:off x="1508760" y="3163824"/>
            <a:ext cx="3319272"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900" b="1" dirty="0">
                <a:solidFill>
                  <a:srgbClr val="203847"/>
                </a:solidFill>
                <a:latin typeface="Arial" pitchFamily="34" charset="0"/>
                <a:ea typeface="Arial" pitchFamily="34" charset="-122"/>
                <a:cs typeface="Arial" pitchFamily="34" charset="-120"/>
              </a:rPr>
              <a:t>Protéger les données</a:t>
            </a:r>
            <a:endParaRPr lang="fr-FR" sz="1900" dirty="0"/>
          </a:p>
        </p:txBody>
      </p:sp>
      <p:sp>
        <p:nvSpPr>
          <p:cNvPr id="22" name="Text 20"/>
          <p:cNvSpPr/>
          <p:nvPr/>
        </p:nvSpPr>
        <p:spPr>
          <a:xfrm>
            <a:off x="5074920" y="3154680"/>
            <a:ext cx="632764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800" dirty="0">
                <a:solidFill>
                  <a:srgbClr val="203847"/>
                </a:solidFill>
                <a:latin typeface="Arial" pitchFamily="34" charset="0"/>
                <a:ea typeface="Arial" pitchFamily="34" charset="-122"/>
                <a:cs typeface="Arial" pitchFamily="34" charset="-120"/>
              </a:rPr>
              <a:t>HTTPS, base privée, stockage chiffré, secret côté serveur.</a:t>
            </a:r>
            <a:endParaRPr lang="fr-FR" sz="1800" dirty="0"/>
          </a:p>
        </p:txBody>
      </p:sp>
      <p:sp>
        <p:nvSpPr>
          <p:cNvPr id="23" name="Shape 21"/>
          <p:cNvSpPr/>
          <p:nvPr/>
        </p:nvSpPr>
        <p:spPr>
          <a:xfrm>
            <a:off x="548640" y="3813048"/>
            <a:ext cx="11082528" cy="603504"/>
          </a:xfrm>
          <a:prstGeom prst="rect">
            <a:avLst/>
          </a:prstGeom>
          <a:solidFill>
            <a:srgbClr val="FFFFFF"/>
          </a:solidFill>
          <a:ln w="8890">
            <a:solidFill>
              <a:srgbClr val="FFFFFF"/>
            </a:solidFill>
            <a:prstDash val="solid"/>
          </a:ln>
        </p:spPr>
        <p:txBody>
          <a:bodyPr/>
          <a:lstStyle/>
          <a:p>
            <a:endParaRPr lang="fr-FR"/>
          </a:p>
        </p:txBody>
      </p:sp>
      <p:sp>
        <p:nvSpPr>
          <p:cNvPr id="24" name="Shape 22"/>
          <p:cNvSpPr/>
          <p:nvPr/>
        </p:nvSpPr>
        <p:spPr>
          <a:xfrm>
            <a:off x="731520" y="3959352"/>
            <a:ext cx="566928" cy="310896"/>
          </a:xfrm>
          <a:prstGeom prst="rect">
            <a:avLst/>
          </a:prstGeom>
          <a:solidFill>
            <a:srgbClr val="C52F3C"/>
          </a:solidFill>
          <a:ln w="8890">
            <a:solidFill>
              <a:srgbClr val="C52F3C"/>
            </a:solidFill>
            <a:prstDash val="solid"/>
          </a:ln>
        </p:spPr>
        <p:txBody>
          <a:bodyPr/>
          <a:lstStyle/>
          <a:p>
            <a:endParaRPr lang="fr-FR"/>
          </a:p>
        </p:txBody>
      </p:sp>
      <p:sp>
        <p:nvSpPr>
          <p:cNvPr id="25" name="Text 23"/>
          <p:cNvSpPr/>
          <p:nvPr/>
        </p:nvSpPr>
        <p:spPr>
          <a:xfrm>
            <a:off x="795528" y="3968496"/>
            <a:ext cx="438912"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dirty="0">
                <a:solidFill>
                  <a:srgbClr val="FFFFFF"/>
                </a:solidFill>
                <a:latin typeface="Arial" pitchFamily="34" charset="0"/>
                <a:ea typeface="Arial" pitchFamily="34" charset="-122"/>
                <a:cs typeface="Arial" pitchFamily="34" charset="-120"/>
              </a:rPr>
              <a:t>C4</a:t>
            </a:r>
            <a:endParaRPr lang="fr-FR" sz="1100" dirty="0"/>
          </a:p>
        </p:txBody>
      </p:sp>
      <p:sp>
        <p:nvSpPr>
          <p:cNvPr id="26" name="Text 24"/>
          <p:cNvSpPr/>
          <p:nvPr/>
        </p:nvSpPr>
        <p:spPr>
          <a:xfrm>
            <a:off x="1508760" y="3886200"/>
            <a:ext cx="3319272"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900" b="1" dirty="0">
                <a:solidFill>
                  <a:srgbClr val="203847"/>
                </a:solidFill>
                <a:latin typeface="Arial" pitchFamily="34" charset="0"/>
                <a:ea typeface="Arial" pitchFamily="34" charset="-122"/>
                <a:cs typeface="Arial" pitchFamily="34" charset="-120"/>
              </a:rPr>
              <a:t>Maîtriser la conservation</a:t>
            </a:r>
            <a:endParaRPr lang="fr-FR" sz="1900" dirty="0"/>
          </a:p>
        </p:txBody>
      </p:sp>
      <p:sp>
        <p:nvSpPr>
          <p:cNvPr id="27" name="Text 25"/>
          <p:cNvSpPr/>
          <p:nvPr/>
        </p:nvSpPr>
        <p:spPr>
          <a:xfrm>
            <a:off x="5074920" y="3877056"/>
            <a:ext cx="632764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800" dirty="0">
                <a:solidFill>
                  <a:srgbClr val="203847"/>
                </a:solidFill>
                <a:latin typeface="Arial" pitchFamily="34" charset="0"/>
                <a:ea typeface="Arial" pitchFamily="34" charset="-122"/>
                <a:cs typeface="Arial" pitchFamily="34" charset="-120"/>
              </a:rPr>
              <a:t>Dernier état seulement ; arrêt puis purge après désactivation.</a:t>
            </a:r>
            <a:endParaRPr lang="fr-FR" sz="1800" dirty="0"/>
          </a:p>
        </p:txBody>
      </p:sp>
      <p:sp>
        <p:nvSpPr>
          <p:cNvPr id="28" name="Shape 26"/>
          <p:cNvSpPr/>
          <p:nvPr/>
        </p:nvSpPr>
        <p:spPr>
          <a:xfrm>
            <a:off x="548640" y="4535424"/>
            <a:ext cx="11082528" cy="603504"/>
          </a:xfrm>
          <a:prstGeom prst="rect">
            <a:avLst/>
          </a:prstGeom>
          <a:solidFill>
            <a:srgbClr val="F0F3F5"/>
          </a:solidFill>
          <a:ln w="8890">
            <a:solidFill>
              <a:srgbClr val="F0F3F5"/>
            </a:solidFill>
            <a:prstDash val="solid"/>
          </a:ln>
        </p:spPr>
        <p:txBody>
          <a:bodyPr/>
          <a:lstStyle/>
          <a:p>
            <a:endParaRPr lang="fr-FR"/>
          </a:p>
        </p:txBody>
      </p:sp>
      <p:sp>
        <p:nvSpPr>
          <p:cNvPr id="29" name="Shape 27"/>
          <p:cNvSpPr/>
          <p:nvPr/>
        </p:nvSpPr>
        <p:spPr>
          <a:xfrm>
            <a:off x="731520" y="4681728"/>
            <a:ext cx="566928" cy="310896"/>
          </a:xfrm>
          <a:prstGeom prst="rect">
            <a:avLst/>
          </a:prstGeom>
          <a:solidFill>
            <a:srgbClr val="C52F3C"/>
          </a:solidFill>
          <a:ln w="8890">
            <a:solidFill>
              <a:srgbClr val="C52F3C"/>
            </a:solidFill>
            <a:prstDash val="solid"/>
          </a:ln>
        </p:spPr>
        <p:txBody>
          <a:bodyPr/>
          <a:lstStyle/>
          <a:p>
            <a:endParaRPr lang="fr-FR"/>
          </a:p>
        </p:txBody>
      </p:sp>
      <p:sp>
        <p:nvSpPr>
          <p:cNvPr id="30" name="Text 28"/>
          <p:cNvSpPr/>
          <p:nvPr/>
        </p:nvSpPr>
        <p:spPr>
          <a:xfrm>
            <a:off x="795528" y="4690872"/>
            <a:ext cx="438912"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dirty="0">
                <a:solidFill>
                  <a:srgbClr val="FFFFFF"/>
                </a:solidFill>
                <a:latin typeface="Arial" pitchFamily="34" charset="0"/>
                <a:ea typeface="Arial" pitchFamily="34" charset="-122"/>
                <a:cs typeface="Arial" pitchFamily="34" charset="-120"/>
              </a:rPr>
              <a:t>C5</a:t>
            </a:r>
            <a:endParaRPr lang="fr-FR" sz="1100" dirty="0"/>
          </a:p>
        </p:txBody>
      </p:sp>
      <p:sp>
        <p:nvSpPr>
          <p:cNvPr id="31" name="Text 29"/>
          <p:cNvSpPr/>
          <p:nvPr/>
        </p:nvSpPr>
        <p:spPr>
          <a:xfrm>
            <a:off x="1508760" y="4608576"/>
            <a:ext cx="3319272"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900" b="1" dirty="0">
                <a:solidFill>
                  <a:srgbClr val="203847"/>
                </a:solidFill>
                <a:latin typeface="Arial" pitchFamily="34" charset="0"/>
                <a:ea typeface="Arial" pitchFamily="34" charset="-122"/>
                <a:cs typeface="Arial" pitchFamily="34" charset="-120"/>
              </a:rPr>
              <a:t>Informer et organiser les droits</a:t>
            </a:r>
            <a:endParaRPr lang="fr-FR" sz="1900" dirty="0"/>
          </a:p>
        </p:txBody>
      </p:sp>
      <p:sp>
        <p:nvSpPr>
          <p:cNvPr id="32" name="Text 30"/>
          <p:cNvSpPr/>
          <p:nvPr/>
        </p:nvSpPr>
        <p:spPr>
          <a:xfrm>
            <a:off x="5074920" y="4599432"/>
            <a:ext cx="632764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800" dirty="0">
                <a:solidFill>
                  <a:srgbClr val="203847"/>
                </a:solidFill>
                <a:latin typeface="Arial" pitchFamily="34" charset="0"/>
                <a:ea typeface="Arial" pitchFamily="34" charset="-122"/>
                <a:cs typeface="Arial" pitchFamily="34" charset="-120"/>
              </a:rPr>
              <a:t>Une notice et un suivi des demandes auprès de Verisure.</a:t>
            </a:r>
            <a:endParaRPr lang="fr-FR" sz="1800" dirty="0"/>
          </a:p>
        </p:txBody>
      </p:sp>
      <p:sp>
        <p:nvSpPr>
          <p:cNvPr id="33" name="Shape 31"/>
          <p:cNvSpPr/>
          <p:nvPr/>
        </p:nvSpPr>
        <p:spPr>
          <a:xfrm>
            <a:off x="548640" y="5596128"/>
            <a:ext cx="11082528" cy="676656"/>
          </a:xfrm>
          <a:prstGeom prst="rect">
            <a:avLst/>
          </a:prstGeom>
          <a:solidFill>
            <a:srgbClr val="F0F3F5"/>
          </a:solidFill>
          <a:ln w="8890">
            <a:solidFill>
              <a:srgbClr val="F0F3F5"/>
            </a:solidFill>
            <a:prstDash val="solid"/>
          </a:ln>
        </p:spPr>
        <p:txBody>
          <a:bodyPr/>
          <a:lstStyle/>
          <a:p>
            <a:endParaRPr lang="fr-FR"/>
          </a:p>
        </p:txBody>
      </p:sp>
      <p:sp>
        <p:nvSpPr>
          <p:cNvPr id="34" name="Text 32"/>
          <p:cNvSpPr/>
          <p:nvPr/>
        </p:nvSpPr>
        <p:spPr>
          <a:xfrm>
            <a:off x="740664" y="5669280"/>
            <a:ext cx="20574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b="1" dirty="0">
                <a:solidFill>
                  <a:srgbClr val="C52F3C"/>
                </a:solidFill>
                <a:latin typeface="Arial" pitchFamily="34" charset="0"/>
                <a:ea typeface="Arial" pitchFamily="34" charset="-122"/>
                <a:cs typeface="Arial" pitchFamily="34" charset="-120"/>
              </a:rPr>
              <a:t>Portée de la preuve</a:t>
            </a:r>
            <a:endParaRPr lang="fr-FR" sz="1700" dirty="0"/>
          </a:p>
        </p:txBody>
      </p:sp>
      <p:sp>
        <p:nvSpPr>
          <p:cNvPr id="35" name="Text 33"/>
          <p:cNvSpPr/>
          <p:nvPr/>
        </p:nvSpPr>
        <p:spPr>
          <a:xfrm>
            <a:off x="2926080" y="5669280"/>
            <a:ext cx="84582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dirty="0">
                <a:solidFill>
                  <a:srgbClr val="203847"/>
                </a:solidFill>
                <a:latin typeface="Arial" pitchFamily="34" charset="0"/>
                <a:ea typeface="Arial" pitchFamily="34" charset="-122"/>
                <a:cs typeface="Arial" pitchFamily="34" charset="-120"/>
              </a:rPr>
              <a:t>Des critères testables, complétés par les validations contractuelles et RGPD.</a:t>
            </a:r>
            <a:endParaRPr lang="fr-FR"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txBody>
          <a:bodyPr/>
          <a:lstStyle/>
          <a:p>
            <a:endParaRPr lang="fr-FR"/>
          </a:p>
        </p:txBody>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kern="0" spc="130" dirty="0">
                <a:solidFill>
                  <a:srgbClr val="5B6770"/>
                </a:solidFill>
                <a:latin typeface="Arial" pitchFamily="34" charset="0"/>
                <a:ea typeface="Arial" pitchFamily="34" charset="-122"/>
                <a:cs typeface="Arial" pitchFamily="34" charset="-120"/>
              </a:rPr>
              <a:t>PLANNING PRÉVISIONNEL</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3000" b="1" dirty="0">
                <a:solidFill>
                  <a:srgbClr val="203847"/>
                </a:solidFill>
                <a:latin typeface="Arial" pitchFamily="34" charset="0"/>
                <a:ea typeface="Arial" pitchFamily="34" charset="-122"/>
                <a:cs typeface="Arial" pitchFamily="34" charset="-120"/>
              </a:rPr>
              <a:t>24 semaines, du cadrage à la mise en service</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txBody>
          <a:bodyPr/>
          <a:lstStyle/>
          <a:p>
            <a:endParaRPr lang="fr-FR"/>
          </a:p>
        </p:txBody>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900" dirty="0">
                <a:solidFill>
                  <a:srgbClr val="5B6770"/>
                </a:solidFill>
                <a:latin typeface="Arial" pitchFamily="34" charset="0"/>
                <a:ea typeface="Arial" pitchFamily="34" charset="-122"/>
                <a:cs typeface="Arial" pitchFamily="34" charset="-120"/>
              </a:rPr>
              <a:t>Verisure | RGPD-01 | Entretien PDG</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r">
              <a:buNone/>
            </a:pPr>
            <a:r>
              <a:rPr lang="fr-FR" altLang="en-US" sz="1000" dirty="0">
                <a:solidFill>
                  <a:srgbClr val="5B6770"/>
                </a:solidFill>
                <a:latin typeface="Arial" pitchFamily="34" charset="0"/>
                <a:ea typeface="Arial" pitchFamily="34" charset="-122"/>
                <a:cs typeface="Arial" pitchFamily="34" charset="-120"/>
              </a:rPr>
              <a:t>6</a:t>
            </a:r>
            <a:endParaRPr lang="fr-FR" sz="1000" dirty="0"/>
          </a:p>
        </p:txBody>
      </p:sp>
      <p:sp>
        <p:nvSpPr>
          <p:cNvPr id="8" name="Text 6"/>
          <p:cNvSpPr/>
          <p:nvPr/>
        </p:nvSpPr>
        <p:spPr>
          <a:xfrm>
            <a:off x="594360" y="1581912"/>
            <a:ext cx="10972800" cy="292608"/>
          </a:xfrm>
          <a:prstGeom prst="rect">
            <a:avLst/>
          </a:prstGeom>
          <a:noFill/>
          <a:ln/>
        </p:spPr>
        <p:txBody>
          <a:bodyPr wrap="square" lIns="0" tIns="0" rIns="0" bIns="0" rtlCol="0" anchor="ctr">
            <a:normAutofit/>
          </a:bodyPr>
          <a:lstStyle/>
          <a:p>
            <a:pPr marL="0" indent="0" algn="l">
              <a:buNone/>
            </a:pPr>
            <a:r>
              <a:rPr lang="fr-FR" altLang="en-US" sz="1400" dirty="0">
                <a:solidFill>
                  <a:srgbClr val="5B6770"/>
                </a:solidFill>
                <a:latin typeface="Arial" pitchFamily="34" charset="0"/>
                <a:ea typeface="Arial" pitchFamily="34" charset="-122"/>
                <a:cs typeface="Arial" pitchFamily="34" charset="-120"/>
              </a:rPr>
              <a:t>Horizon proposé : environ cinq mois et demi. S = semaine depuis le lancement.</a:t>
            </a:r>
            <a:endParaRPr lang="fr-FR" sz="1400" dirty="0"/>
          </a:p>
        </p:txBody>
      </p:sp>
      <p:sp>
        <p:nvSpPr>
          <p:cNvPr id="9" name="Shape 7"/>
          <p:cNvSpPr/>
          <p:nvPr/>
        </p:nvSpPr>
        <p:spPr>
          <a:xfrm>
            <a:off x="548640" y="2020824"/>
            <a:ext cx="11082528" cy="274320"/>
          </a:xfrm>
          <a:prstGeom prst="rect">
            <a:avLst/>
          </a:prstGeom>
          <a:solidFill>
            <a:srgbClr val="203847"/>
          </a:solidFill>
          <a:ln w="5080">
            <a:solidFill>
              <a:srgbClr val="203847"/>
            </a:solidFill>
            <a:prstDash val="solid"/>
          </a:ln>
        </p:spPr>
        <p:txBody>
          <a:bodyPr/>
          <a:lstStyle/>
          <a:p>
            <a:endParaRPr lang="fr-FR"/>
          </a:p>
        </p:txBody>
      </p:sp>
      <p:sp>
        <p:nvSpPr>
          <p:cNvPr id="10" name="Text 8"/>
          <p:cNvSpPr/>
          <p:nvPr/>
        </p:nvSpPr>
        <p:spPr>
          <a:xfrm>
            <a:off x="630936" y="2034540"/>
            <a:ext cx="3364992" cy="237744"/>
          </a:xfrm>
          <a:prstGeom prst="rect">
            <a:avLst/>
          </a:prstGeom>
          <a:noFill/>
          <a:ln/>
        </p:spPr>
        <p:txBody>
          <a:bodyPr wrap="square" lIns="0" tIns="0" rIns="0" bIns="0" rtlCol="0" anchor="ctr">
            <a:normAutofit/>
          </a:bodyPr>
          <a:lstStyle/>
          <a:p>
            <a:pPr marL="0" indent="0" algn="l">
              <a:buNone/>
            </a:pPr>
            <a:r>
              <a:rPr lang="fr-FR" altLang="en-US" sz="1200" b="1" dirty="0">
                <a:solidFill>
                  <a:srgbClr val="FFFFFF"/>
                </a:solidFill>
                <a:latin typeface="Arial" pitchFamily="34" charset="0"/>
                <a:ea typeface="Arial" pitchFamily="34" charset="-122"/>
                <a:cs typeface="Arial" pitchFamily="34" charset="-120"/>
              </a:rPr>
              <a:t>Activité</a:t>
            </a:r>
            <a:endParaRPr lang="fr-FR" sz="1200" dirty="0"/>
          </a:p>
        </p:txBody>
      </p:sp>
      <p:sp>
        <p:nvSpPr>
          <p:cNvPr id="11" name="Text 9"/>
          <p:cNvSpPr/>
          <p:nvPr/>
        </p:nvSpPr>
        <p:spPr>
          <a:xfrm>
            <a:off x="4023360" y="2034540"/>
            <a:ext cx="987552" cy="237744"/>
          </a:xfrm>
          <a:prstGeom prst="rect">
            <a:avLst/>
          </a:prstGeom>
          <a:noFill/>
          <a:ln/>
        </p:spPr>
        <p:txBody>
          <a:bodyPr wrap="square" lIns="0" tIns="0" rIns="0" bIns="0" rtlCol="0" anchor="ctr">
            <a:normAutofit/>
          </a:bodyPr>
          <a:lstStyle/>
          <a:p>
            <a:pPr marL="0" indent="0" algn="ctr">
              <a:buNone/>
            </a:pPr>
            <a:r>
              <a:rPr lang="fr-FR" altLang="en-US" sz="1120" b="1" dirty="0">
                <a:solidFill>
                  <a:srgbClr val="FFFFFF"/>
                </a:solidFill>
                <a:latin typeface="Arial" pitchFamily="34" charset="0"/>
                <a:ea typeface="Arial" pitchFamily="34" charset="-122"/>
                <a:cs typeface="Arial" pitchFamily="34" charset="-120"/>
              </a:rPr>
              <a:t>Période</a:t>
            </a:r>
            <a:endParaRPr lang="fr-FR" sz="1120" dirty="0"/>
          </a:p>
        </p:txBody>
      </p:sp>
      <p:sp>
        <p:nvSpPr>
          <p:cNvPr id="12" name="Text 10"/>
          <p:cNvSpPr/>
          <p:nvPr/>
        </p:nvSpPr>
        <p:spPr>
          <a:xfrm>
            <a:off x="5010912"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01</a:t>
            </a:r>
            <a:endParaRPr lang="fr-FR" sz="930" dirty="0"/>
          </a:p>
        </p:txBody>
      </p:sp>
      <p:sp>
        <p:nvSpPr>
          <p:cNvPr id="13" name="Text 11"/>
          <p:cNvSpPr/>
          <p:nvPr/>
        </p:nvSpPr>
        <p:spPr>
          <a:xfrm>
            <a:off x="5286756"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02</a:t>
            </a:r>
            <a:endParaRPr lang="fr-FR" sz="930" dirty="0"/>
          </a:p>
        </p:txBody>
      </p:sp>
      <p:sp>
        <p:nvSpPr>
          <p:cNvPr id="14" name="Text 12"/>
          <p:cNvSpPr/>
          <p:nvPr/>
        </p:nvSpPr>
        <p:spPr>
          <a:xfrm>
            <a:off x="5562600"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03</a:t>
            </a:r>
            <a:endParaRPr lang="fr-FR" sz="930" dirty="0"/>
          </a:p>
        </p:txBody>
      </p:sp>
      <p:sp>
        <p:nvSpPr>
          <p:cNvPr id="15" name="Text 13"/>
          <p:cNvSpPr/>
          <p:nvPr/>
        </p:nvSpPr>
        <p:spPr>
          <a:xfrm>
            <a:off x="5838444"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04</a:t>
            </a:r>
            <a:endParaRPr lang="fr-FR" sz="930" dirty="0"/>
          </a:p>
        </p:txBody>
      </p:sp>
      <p:sp>
        <p:nvSpPr>
          <p:cNvPr id="16" name="Text 14"/>
          <p:cNvSpPr/>
          <p:nvPr/>
        </p:nvSpPr>
        <p:spPr>
          <a:xfrm>
            <a:off x="6114288"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05</a:t>
            </a:r>
            <a:endParaRPr lang="fr-FR" sz="930" dirty="0"/>
          </a:p>
        </p:txBody>
      </p:sp>
      <p:sp>
        <p:nvSpPr>
          <p:cNvPr id="17" name="Text 15"/>
          <p:cNvSpPr/>
          <p:nvPr/>
        </p:nvSpPr>
        <p:spPr>
          <a:xfrm>
            <a:off x="6390132"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06</a:t>
            </a:r>
            <a:endParaRPr lang="fr-FR" sz="930" dirty="0"/>
          </a:p>
        </p:txBody>
      </p:sp>
      <p:sp>
        <p:nvSpPr>
          <p:cNvPr id="18" name="Text 16"/>
          <p:cNvSpPr/>
          <p:nvPr/>
        </p:nvSpPr>
        <p:spPr>
          <a:xfrm>
            <a:off x="6665976"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07</a:t>
            </a:r>
            <a:endParaRPr lang="fr-FR" sz="930" dirty="0"/>
          </a:p>
        </p:txBody>
      </p:sp>
      <p:sp>
        <p:nvSpPr>
          <p:cNvPr id="19" name="Text 17"/>
          <p:cNvSpPr/>
          <p:nvPr/>
        </p:nvSpPr>
        <p:spPr>
          <a:xfrm>
            <a:off x="6941820"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08</a:t>
            </a:r>
            <a:endParaRPr lang="fr-FR" sz="930" dirty="0"/>
          </a:p>
        </p:txBody>
      </p:sp>
      <p:sp>
        <p:nvSpPr>
          <p:cNvPr id="20" name="Text 18"/>
          <p:cNvSpPr/>
          <p:nvPr/>
        </p:nvSpPr>
        <p:spPr>
          <a:xfrm>
            <a:off x="7217664"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09</a:t>
            </a:r>
            <a:endParaRPr lang="fr-FR" sz="930" dirty="0"/>
          </a:p>
        </p:txBody>
      </p:sp>
      <p:sp>
        <p:nvSpPr>
          <p:cNvPr id="21" name="Text 19"/>
          <p:cNvSpPr/>
          <p:nvPr/>
        </p:nvSpPr>
        <p:spPr>
          <a:xfrm>
            <a:off x="7493508"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10</a:t>
            </a:r>
            <a:endParaRPr lang="fr-FR" sz="930" dirty="0"/>
          </a:p>
        </p:txBody>
      </p:sp>
      <p:sp>
        <p:nvSpPr>
          <p:cNvPr id="22" name="Text 20"/>
          <p:cNvSpPr/>
          <p:nvPr/>
        </p:nvSpPr>
        <p:spPr>
          <a:xfrm>
            <a:off x="7769352"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11</a:t>
            </a:r>
            <a:endParaRPr lang="fr-FR" sz="930" dirty="0"/>
          </a:p>
        </p:txBody>
      </p:sp>
      <p:sp>
        <p:nvSpPr>
          <p:cNvPr id="23" name="Text 21"/>
          <p:cNvSpPr/>
          <p:nvPr/>
        </p:nvSpPr>
        <p:spPr>
          <a:xfrm>
            <a:off x="8045196"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12</a:t>
            </a:r>
            <a:endParaRPr lang="fr-FR" sz="930" dirty="0"/>
          </a:p>
        </p:txBody>
      </p:sp>
      <p:sp>
        <p:nvSpPr>
          <p:cNvPr id="24" name="Text 22"/>
          <p:cNvSpPr/>
          <p:nvPr/>
        </p:nvSpPr>
        <p:spPr>
          <a:xfrm>
            <a:off x="8321040"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13</a:t>
            </a:r>
            <a:endParaRPr lang="fr-FR" sz="930" dirty="0"/>
          </a:p>
        </p:txBody>
      </p:sp>
      <p:sp>
        <p:nvSpPr>
          <p:cNvPr id="25" name="Text 23"/>
          <p:cNvSpPr/>
          <p:nvPr/>
        </p:nvSpPr>
        <p:spPr>
          <a:xfrm>
            <a:off x="8596884"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14</a:t>
            </a:r>
            <a:endParaRPr lang="fr-FR" sz="930" dirty="0"/>
          </a:p>
        </p:txBody>
      </p:sp>
      <p:sp>
        <p:nvSpPr>
          <p:cNvPr id="26" name="Text 24"/>
          <p:cNvSpPr/>
          <p:nvPr/>
        </p:nvSpPr>
        <p:spPr>
          <a:xfrm>
            <a:off x="8872728"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15</a:t>
            </a:r>
            <a:endParaRPr lang="fr-FR" sz="930" dirty="0"/>
          </a:p>
        </p:txBody>
      </p:sp>
      <p:sp>
        <p:nvSpPr>
          <p:cNvPr id="27" name="Text 25"/>
          <p:cNvSpPr/>
          <p:nvPr/>
        </p:nvSpPr>
        <p:spPr>
          <a:xfrm>
            <a:off x="9148572"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16</a:t>
            </a:r>
            <a:endParaRPr lang="fr-FR" sz="930" dirty="0"/>
          </a:p>
        </p:txBody>
      </p:sp>
      <p:sp>
        <p:nvSpPr>
          <p:cNvPr id="28" name="Text 26"/>
          <p:cNvSpPr/>
          <p:nvPr/>
        </p:nvSpPr>
        <p:spPr>
          <a:xfrm>
            <a:off x="9424416"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17</a:t>
            </a:r>
            <a:endParaRPr lang="fr-FR" sz="930" dirty="0"/>
          </a:p>
        </p:txBody>
      </p:sp>
      <p:sp>
        <p:nvSpPr>
          <p:cNvPr id="29" name="Text 27"/>
          <p:cNvSpPr/>
          <p:nvPr/>
        </p:nvSpPr>
        <p:spPr>
          <a:xfrm>
            <a:off x="9700260"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18</a:t>
            </a:r>
            <a:endParaRPr lang="fr-FR" sz="930" dirty="0"/>
          </a:p>
        </p:txBody>
      </p:sp>
      <p:sp>
        <p:nvSpPr>
          <p:cNvPr id="30" name="Text 28"/>
          <p:cNvSpPr/>
          <p:nvPr/>
        </p:nvSpPr>
        <p:spPr>
          <a:xfrm>
            <a:off x="9976104"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19</a:t>
            </a:r>
            <a:endParaRPr lang="fr-FR" sz="930" dirty="0"/>
          </a:p>
        </p:txBody>
      </p:sp>
      <p:sp>
        <p:nvSpPr>
          <p:cNvPr id="31" name="Text 29"/>
          <p:cNvSpPr/>
          <p:nvPr/>
        </p:nvSpPr>
        <p:spPr>
          <a:xfrm>
            <a:off x="10251948"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20</a:t>
            </a:r>
            <a:endParaRPr lang="fr-FR" sz="930" dirty="0"/>
          </a:p>
        </p:txBody>
      </p:sp>
      <p:sp>
        <p:nvSpPr>
          <p:cNvPr id="32" name="Text 30"/>
          <p:cNvSpPr/>
          <p:nvPr/>
        </p:nvSpPr>
        <p:spPr>
          <a:xfrm>
            <a:off x="10527792"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21</a:t>
            </a:r>
            <a:endParaRPr lang="fr-FR" sz="930" dirty="0"/>
          </a:p>
        </p:txBody>
      </p:sp>
      <p:sp>
        <p:nvSpPr>
          <p:cNvPr id="33" name="Text 31"/>
          <p:cNvSpPr/>
          <p:nvPr/>
        </p:nvSpPr>
        <p:spPr>
          <a:xfrm>
            <a:off x="10803636"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22</a:t>
            </a:r>
            <a:endParaRPr lang="fr-FR" sz="930" dirty="0"/>
          </a:p>
        </p:txBody>
      </p:sp>
      <p:sp>
        <p:nvSpPr>
          <p:cNvPr id="34" name="Text 32"/>
          <p:cNvSpPr/>
          <p:nvPr/>
        </p:nvSpPr>
        <p:spPr>
          <a:xfrm>
            <a:off x="11079480"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23</a:t>
            </a:r>
            <a:endParaRPr lang="fr-FR" sz="930" dirty="0"/>
          </a:p>
        </p:txBody>
      </p:sp>
      <p:sp>
        <p:nvSpPr>
          <p:cNvPr id="35" name="Text 33"/>
          <p:cNvSpPr/>
          <p:nvPr/>
        </p:nvSpPr>
        <p:spPr>
          <a:xfrm>
            <a:off x="11355324" y="2034540"/>
            <a:ext cx="275844" cy="237744"/>
          </a:xfrm>
          <a:prstGeom prst="rect">
            <a:avLst/>
          </a:prstGeom>
          <a:noFill/>
          <a:ln/>
        </p:spPr>
        <p:txBody>
          <a:bodyPr wrap="square" lIns="0" tIns="0" rIns="0" bIns="0" rtlCol="0" anchor="ctr">
            <a:normAutofit/>
          </a:bodyPr>
          <a:lstStyle/>
          <a:p>
            <a:pPr marL="0" indent="0" algn="ctr">
              <a:buNone/>
            </a:pPr>
            <a:r>
              <a:rPr lang="fr-FR" altLang="en-US" sz="930" b="1" dirty="0">
                <a:solidFill>
                  <a:srgbClr val="FFFFFF"/>
                </a:solidFill>
                <a:latin typeface="Arial" pitchFamily="34" charset="0"/>
                <a:ea typeface="Arial" pitchFamily="34" charset="-122"/>
                <a:cs typeface="Arial" pitchFamily="34" charset="-120"/>
              </a:rPr>
              <a:t>24</a:t>
            </a:r>
            <a:endParaRPr lang="fr-FR" sz="930" dirty="0"/>
          </a:p>
        </p:txBody>
      </p:sp>
      <p:sp>
        <p:nvSpPr>
          <p:cNvPr id="36" name="Shape 34"/>
          <p:cNvSpPr/>
          <p:nvPr/>
        </p:nvSpPr>
        <p:spPr>
          <a:xfrm>
            <a:off x="548640" y="2295144"/>
            <a:ext cx="11082528" cy="315468"/>
          </a:xfrm>
          <a:prstGeom prst="rect">
            <a:avLst/>
          </a:prstGeom>
          <a:solidFill>
            <a:srgbClr val="FFFFFF"/>
          </a:solidFill>
          <a:ln w="5080">
            <a:solidFill>
              <a:srgbClr val="DCE2E6"/>
            </a:solidFill>
            <a:prstDash val="solid"/>
          </a:ln>
        </p:spPr>
        <p:txBody>
          <a:bodyPr/>
          <a:lstStyle/>
          <a:p>
            <a:endParaRPr lang="fr-FR"/>
          </a:p>
        </p:txBody>
      </p:sp>
      <p:sp>
        <p:nvSpPr>
          <p:cNvPr id="37" name="Text 35"/>
          <p:cNvSpPr/>
          <p:nvPr/>
        </p:nvSpPr>
        <p:spPr>
          <a:xfrm>
            <a:off x="630936" y="2318004"/>
            <a:ext cx="3355848" cy="269748"/>
          </a:xfrm>
          <a:prstGeom prst="rect">
            <a:avLst/>
          </a:prstGeom>
          <a:noFill/>
          <a:ln/>
        </p:spPr>
        <p:txBody>
          <a:bodyPr wrap="square" lIns="0" tIns="0" rIns="0" bIns="0" rtlCol="0" anchor="ctr">
            <a:normAutofit/>
          </a:bodyPr>
          <a:lstStyle/>
          <a:p>
            <a:pPr marL="0" indent="0" algn="l">
              <a:buNone/>
            </a:pPr>
            <a:r>
              <a:rPr lang="fr-FR" altLang="en-US" sz="1310" dirty="0">
                <a:solidFill>
                  <a:srgbClr val="203847"/>
                </a:solidFill>
                <a:latin typeface="Arial" pitchFamily="34" charset="0"/>
                <a:ea typeface="Arial" pitchFamily="34" charset="-122"/>
                <a:cs typeface="Arial" pitchFamily="34" charset="-120"/>
              </a:rPr>
              <a:t>Cadrage, accord API et exigences</a:t>
            </a:r>
            <a:endParaRPr lang="fr-FR" sz="1310" dirty="0"/>
          </a:p>
        </p:txBody>
      </p:sp>
      <p:sp>
        <p:nvSpPr>
          <p:cNvPr id="38" name="Text 36"/>
          <p:cNvSpPr/>
          <p:nvPr/>
        </p:nvSpPr>
        <p:spPr>
          <a:xfrm>
            <a:off x="4050792" y="2318004"/>
            <a:ext cx="932688" cy="269748"/>
          </a:xfrm>
          <a:prstGeom prst="rect">
            <a:avLst/>
          </a:prstGeom>
          <a:noFill/>
          <a:ln/>
        </p:spPr>
        <p:txBody>
          <a:bodyPr wrap="square" lIns="0" tIns="0" rIns="0" bIns="0" rtlCol="0" anchor="ctr">
            <a:normAutofit/>
          </a:bodyPr>
          <a:lstStyle/>
          <a:p>
            <a:pPr marL="0" indent="0" algn="ctr">
              <a:buNone/>
            </a:pPr>
            <a:r>
              <a:rPr lang="fr-FR" altLang="en-US" sz="1130" dirty="0">
                <a:solidFill>
                  <a:srgbClr val="203847"/>
                </a:solidFill>
                <a:latin typeface="Arial" pitchFamily="34" charset="0"/>
                <a:ea typeface="Arial" pitchFamily="34" charset="-122"/>
                <a:cs typeface="Arial" pitchFamily="34" charset="-120"/>
              </a:rPr>
              <a:t>S1-S4</a:t>
            </a:r>
            <a:endParaRPr lang="fr-FR" sz="1130" dirty="0"/>
          </a:p>
        </p:txBody>
      </p:sp>
      <p:sp>
        <p:nvSpPr>
          <p:cNvPr id="39" name="Shape 37"/>
          <p:cNvSpPr/>
          <p:nvPr/>
        </p:nvSpPr>
        <p:spPr>
          <a:xfrm>
            <a:off x="5010912" y="2295144"/>
            <a:ext cx="275844" cy="315468"/>
          </a:xfrm>
          <a:prstGeom prst="rect">
            <a:avLst/>
          </a:prstGeom>
          <a:solidFill>
            <a:srgbClr val="203847"/>
          </a:solidFill>
          <a:ln w="5080">
            <a:solidFill>
              <a:srgbClr val="FFFFFF"/>
            </a:solidFill>
            <a:prstDash val="solid"/>
          </a:ln>
        </p:spPr>
        <p:txBody>
          <a:bodyPr/>
          <a:lstStyle/>
          <a:p>
            <a:endParaRPr lang="fr-FR"/>
          </a:p>
        </p:txBody>
      </p:sp>
      <p:sp>
        <p:nvSpPr>
          <p:cNvPr id="40" name="Text 38"/>
          <p:cNvSpPr/>
          <p:nvPr/>
        </p:nvSpPr>
        <p:spPr>
          <a:xfrm>
            <a:off x="5010912" y="2322576"/>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41" name="Shape 39"/>
          <p:cNvSpPr/>
          <p:nvPr/>
        </p:nvSpPr>
        <p:spPr>
          <a:xfrm>
            <a:off x="5286756" y="2295144"/>
            <a:ext cx="275844" cy="315468"/>
          </a:xfrm>
          <a:prstGeom prst="rect">
            <a:avLst/>
          </a:prstGeom>
          <a:solidFill>
            <a:srgbClr val="203847"/>
          </a:solidFill>
          <a:ln w="5080">
            <a:solidFill>
              <a:srgbClr val="FFFFFF"/>
            </a:solidFill>
            <a:prstDash val="solid"/>
          </a:ln>
        </p:spPr>
        <p:txBody>
          <a:bodyPr/>
          <a:lstStyle/>
          <a:p>
            <a:endParaRPr lang="fr-FR"/>
          </a:p>
        </p:txBody>
      </p:sp>
      <p:sp>
        <p:nvSpPr>
          <p:cNvPr id="42" name="Text 40"/>
          <p:cNvSpPr/>
          <p:nvPr/>
        </p:nvSpPr>
        <p:spPr>
          <a:xfrm>
            <a:off x="5286756" y="2322576"/>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43" name="Shape 41"/>
          <p:cNvSpPr/>
          <p:nvPr/>
        </p:nvSpPr>
        <p:spPr>
          <a:xfrm>
            <a:off x="5562600" y="2295144"/>
            <a:ext cx="275844" cy="315468"/>
          </a:xfrm>
          <a:prstGeom prst="rect">
            <a:avLst/>
          </a:prstGeom>
          <a:solidFill>
            <a:srgbClr val="203847"/>
          </a:solidFill>
          <a:ln w="5080">
            <a:solidFill>
              <a:srgbClr val="FFFFFF"/>
            </a:solidFill>
            <a:prstDash val="solid"/>
          </a:ln>
        </p:spPr>
        <p:txBody>
          <a:bodyPr/>
          <a:lstStyle/>
          <a:p>
            <a:endParaRPr lang="fr-FR"/>
          </a:p>
        </p:txBody>
      </p:sp>
      <p:sp>
        <p:nvSpPr>
          <p:cNvPr id="44" name="Text 42"/>
          <p:cNvSpPr/>
          <p:nvPr/>
        </p:nvSpPr>
        <p:spPr>
          <a:xfrm>
            <a:off x="5562600" y="2322576"/>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45" name="Shape 43"/>
          <p:cNvSpPr/>
          <p:nvPr/>
        </p:nvSpPr>
        <p:spPr>
          <a:xfrm>
            <a:off x="5838444" y="2295144"/>
            <a:ext cx="275844" cy="315468"/>
          </a:xfrm>
          <a:prstGeom prst="rect">
            <a:avLst/>
          </a:prstGeom>
          <a:solidFill>
            <a:srgbClr val="203847"/>
          </a:solidFill>
          <a:ln w="5080">
            <a:solidFill>
              <a:srgbClr val="FFFFFF"/>
            </a:solidFill>
            <a:prstDash val="solid"/>
          </a:ln>
        </p:spPr>
        <p:txBody>
          <a:bodyPr/>
          <a:lstStyle/>
          <a:p>
            <a:endParaRPr lang="fr-FR"/>
          </a:p>
        </p:txBody>
      </p:sp>
      <p:sp>
        <p:nvSpPr>
          <p:cNvPr id="46" name="Text 44"/>
          <p:cNvSpPr/>
          <p:nvPr/>
        </p:nvSpPr>
        <p:spPr>
          <a:xfrm>
            <a:off x="5838444" y="2322576"/>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47" name="Shape 45"/>
          <p:cNvSpPr/>
          <p:nvPr/>
        </p:nvSpPr>
        <p:spPr>
          <a:xfrm>
            <a:off x="7217664" y="2295144"/>
            <a:ext cx="275844" cy="315468"/>
          </a:xfrm>
          <a:prstGeom prst="rect">
            <a:avLst/>
          </a:prstGeom>
          <a:solidFill>
            <a:srgbClr val="F0F3F5"/>
          </a:solidFill>
          <a:ln w="5080">
            <a:solidFill>
              <a:srgbClr val="F0F3F5"/>
            </a:solidFill>
            <a:prstDash val="solid"/>
          </a:ln>
        </p:spPr>
        <p:txBody>
          <a:bodyPr/>
          <a:lstStyle/>
          <a:p>
            <a:endParaRPr lang="fr-FR"/>
          </a:p>
        </p:txBody>
      </p:sp>
      <p:sp>
        <p:nvSpPr>
          <p:cNvPr id="48" name="Shape 46"/>
          <p:cNvSpPr/>
          <p:nvPr/>
        </p:nvSpPr>
        <p:spPr>
          <a:xfrm>
            <a:off x="7493508" y="2295144"/>
            <a:ext cx="275844" cy="315468"/>
          </a:xfrm>
          <a:prstGeom prst="rect">
            <a:avLst/>
          </a:prstGeom>
          <a:solidFill>
            <a:srgbClr val="F0F3F5"/>
          </a:solidFill>
          <a:ln w="5080">
            <a:solidFill>
              <a:srgbClr val="F0F3F5"/>
            </a:solidFill>
            <a:prstDash val="solid"/>
          </a:ln>
        </p:spPr>
        <p:txBody>
          <a:bodyPr/>
          <a:lstStyle/>
          <a:p>
            <a:endParaRPr lang="fr-FR"/>
          </a:p>
        </p:txBody>
      </p:sp>
      <p:sp>
        <p:nvSpPr>
          <p:cNvPr id="49" name="Shape 47"/>
          <p:cNvSpPr/>
          <p:nvPr/>
        </p:nvSpPr>
        <p:spPr>
          <a:xfrm>
            <a:off x="7769352" y="2295144"/>
            <a:ext cx="275844" cy="315468"/>
          </a:xfrm>
          <a:prstGeom prst="rect">
            <a:avLst/>
          </a:prstGeom>
          <a:solidFill>
            <a:srgbClr val="F0F3F5"/>
          </a:solidFill>
          <a:ln w="5080">
            <a:solidFill>
              <a:srgbClr val="F0F3F5"/>
            </a:solidFill>
            <a:prstDash val="solid"/>
          </a:ln>
        </p:spPr>
        <p:txBody>
          <a:bodyPr/>
          <a:lstStyle/>
          <a:p>
            <a:endParaRPr lang="fr-FR"/>
          </a:p>
        </p:txBody>
      </p:sp>
      <p:sp>
        <p:nvSpPr>
          <p:cNvPr id="50" name="Shape 48"/>
          <p:cNvSpPr/>
          <p:nvPr/>
        </p:nvSpPr>
        <p:spPr>
          <a:xfrm>
            <a:off x="8045196" y="2295144"/>
            <a:ext cx="275844" cy="315468"/>
          </a:xfrm>
          <a:prstGeom prst="rect">
            <a:avLst/>
          </a:prstGeom>
          <a:solidFill>
            <a:srgbClr val="F0F3F5"/>
          </a:solidFill>
          <a:ln w="5080">
            <a:solidFill>
              <a:srgbClr val="F0F3F5"/>
            </a:solidFill>
            <a:prstDash val="solid"/>
          </a:ln>
        </p:spPr>
        <p:txBody>
          <a:bodyPr/>
          <a:lstStyle/>
          <a:p>
            <a:endParaRPr lang="fr-FR"/>
          </a:p>
        </p:txBody>
      </p:sp>
      <p:sp>
        <p:nvSpPr>
          <p:cNvPr id="51" name="Shape 49"/>
          <p:cNvSpPr/>
          <p:nvPr/>
        </p:nvSpPr>
        <p:spPr>
          <a:xfrm>
            <a:off x="9424416" y="2295144"/>
            <a:ext cx="275844" cy="315468"/>
          </a:xfrm>
          <a:prstGeom prst="rect">
            <a:avLst/>
          </a:prstGeom>
          <a:solidFill>
            <a:srgbClr val="F0F3F5"/>
          </a:solidFill>
          <a:ln w="5080">
            <a:solidFill>
              <a:srgbClr val="F0F3F5"/>
            </a:solidFill>
            <a:prstDash val="solid"/>
          </a:ln>
        </p:spPr>
        <p:txBody>
          <a:bodyPr/>
          <a:lstStyle/>
          <a:p>
            <a:endParaRPr lang="fr-FR"/>
          </a:p>
        </p:txBody>
      </p:sp>
      <p:sp>
        <p:nvSpPr>
          <p:cNvPr id="52" name="Shape 50"/>
          <p:cNvSpPr/>
          <p:nvPr/>
        </p:nvSpPr>
        <p:spPr>
          <a:xfrm>
            <a:off x="9700260" y="2295144"/>
            <a:ext cx="275844" cy="315468"/>
          </a:xfrm>
          <a:prstGeom prst="rect">
            <a:avLst/>
          </a:prstGeom>
          <a:solidFill>
            <a:srgbClr val="F0F3F5"/>
          </a:solidFill>
          <a:ln w="5080">
            <a:solidFill>
              <a:srgbClr val="F0F3F5"/>
            </a:solidFill>
            <a:prstDash val="solid"/>
          </a:ln>
        </p:spPr>
        <p:txBody>
          <a:bodyPr/>
          <a:lstStyle/>
          <a:p>
            <a:endParaRPr lang="fr-FR"/>
          </a:p>
        </p:txBody>
      </p:sp>
      <p:sp>
        <p:nvSpPr>
          <p:cNvPr id="53" name="Shape 51"/>
          <p:cNvSpPr/>
          <p:nvPr/>
        </p:nvSpPr>
        <p:spPr>
          <a:xfrm>
            <a:off x="9976104" y="2295144"/>
            <a:ext cx="275844" cy="315468"/>
          </a:xfrm>
          <a:prstGeom prst="rect">
            <a:avLst/>
          </a:prstGeom>
          <a:solidFill>
            <a:srgbClr val="F0F3F5"/>
          </a:solidFill>
          <a:ln w="5080">
            <a:solidFill>
              <a:srgbClr val="F0F3F5"/>
            </a:solidFill>
            <a:prstDash val="solid"/>
          </a:ln>
        </p:spPr>
        <p:txBody>
          <a:bodyPr/>
          <a:lstStyle/>
          <a:p>
            <a:endParaRPr lang="fr-FR"/>
          </a:p>
        </p:txBody>
      </p:sp>
      <p:sp>
        <p:nvSpPr>
          <p:cNvPr id="54" name="Shape 52"/>
          <p:cNvSpPr/>
          <p:nvPr/>
        </p:nvSpPr>
        <p:spPr>
          <a:xfrm>
            <a:off x="10251948" y="2295144"/>
            <a:ext cx="275844" cy="315468"/>
          </a:xfrm>
          <a:prstGeom prst="rect">
            <a:avLst/>
          </a:prstGeom>
          <a:solidFill>
            <a:srgbClr val="F0F3F5"/>
          </a:solidFill>
          <a:ln w="5080">
            <a:solidFill>
              <a:srgbClr val="F0F3F5"/>
            </a:solidFill>
            <a:prstDash val="solid"/>
          </a:ln>
        </p:spPr>
        <p:txBody>
          <a:bodyPr/>
          <a:lstStyle/>
          <a:p>
            <a:endParaRPr lang="fr-FR"/>
          </a:p>
        </p:txBody>
      </p:sp>
      <p:sp>
        <p:nvSpPr>
          <p:cNvPr id="55" name="Shape 53"/>
          <p:cNvSpPr/>
          <p:nvPr/>
        </p:nvSpPr>
        <p:spPr>
          <a:xfrm>
            <a:off x="548640" y="2610612"/>
            <a:ext cx="11082528" cy="315468"/>
          </a:xfrm>
          <a:prstGeom prst="rect">
            <a:avLst/>
          </a:prstGeom>
          <a:solidFill>
            <a:srgbClr val="F0F3F5"/>
          </a:solidFill>
          <a:ln w="5080">
            <a:solidFill>
              <a:srgbClr val="DCE2E6"/>
            </a:solidFill>
            <a:prstDash val="solid"/>
          </a:ln>
        </p:spPr>
        <p:txBody>
          <a:bodyPr/>
          <a:lstStyle/>
          <a:p>
            <a:endParaRPr lang="fr-FR"/>
          </a:p>
        </p:txBody>
      </p:sp>
      <p:sp>
        <p:nvSpPr>
          <p:cNvPr id="56" name="Text 54"/>
          <p:cNvSpPr/>
          <p:nvPr/>
        </p:nvSpPr>
        <p:spPr>
          <a:xfrm>
            <a:off x="630936" y="2633472"/>
            <a:ext cx="3355848" cy="269748"/>
          </a:xfrm>
          <a:prstGeom prst="rect">
            <a:avLst/>
          </a:prstGeom>
          <a:noFill/>
          <a:ln/>
        </p:spPr>
        <p:txBody>
          <a:bodyPr wrap="square" lIns="0" tIns="0" rIns="0" bIns="0" rtlCol="0" anchor="ctr">
            <a:normAutofit/>
          </a:bodyPr>
          <a:lstStyle/>
          <a:p>
            <a:pPr marL="0" indent="0" algn="l">
              <a:buNone/>
            </a:pPr>
            <a:r>
              <a:rPr lang="fr-FR" altLang="en-US" sz="1310" dirty="0">
                <a:solidFill>
                  <a:srgbClr val="203847"/>
                </a:solidFill>
                <a:latin typeface="Arial" pitchFamily="34" charset="0"/>
                <a:ea typeface="Arial" pitchFamily="34" charset="-122"/>
                <a:cs typeface="Arial" pitchFamily="34" charset="-120"/>
              </a:rPr>
              <a:t>Architecture et conception</a:t>
            </a:r>
            <a:endParaRPr lang="fr-FR" sz="1310" dirty="0"/>
          </a:p>
        </p:txBody>
      </p:sp>
      <p:sp>
        <p:nvSpPr>
          <p:cNvPr id="57" name="Text 55"/>
          <p:cNvSpPr/>
          <p:nvPr/>
        </p:nvSpPr>
        <p:spPr>
          <a:xfrm>
            <a:off x="4050792" y="2633472"/>
            <a:ext cx="932688" cy="269748"/>
          </a:xfrm>
          <a:prstGeom prst="rect">
            <a:avLst/>
          </a:prstGeom>
          <a:noFill/>
          <a:ln/>
        </p:spPr>
        <p:txBody>
          <a:bodyPr wrap="square" lIns="0" tIns="0" rIns="0" bIns="0" rtlCol="0" anchor="ctr">
            <a:normAutofit/>
          </a:bodyPr>
          <a:lstStyle/>
          <a:p>
            <a:pPr marL="0" indent="0" algn="ctr">
              <a:buNone/>
            </a:pPr>
            <a:r>
              <a:rPr lang="fr-FR" altLang="en-US" sz="1130" dirty="0">
                <a:solidFill>
                  <a:srgbClr val="203847"/>
                </a:solidFill>
                <a:latin typeface="Arial" pitchFamily="34" charset="0"/>
                <a:ea typeface="Arial" pitchFamily="34" charset="-122"/>
                <a:cs typeface="Arial" pitchFamily="34" charset="-120"/>
              </a:rPr>
              <a:t>S5-S8</a:t>
            </a:r>
            <a:endParaRPr lang="fr-FR" sz="1130" dirty="0"/>
          </a:p>
        </p:txBody>
      </p:sp>
      <p:sp>
        <p:nvSpPr>
          <p:cNvPr id="58" name="Shape 56"/>
          <p:cNvSpPr/>
          <p:nvPr/>
        </p:nvSpPr>
        <p:spPr>
          <a:xfrm>
            <a:off x="5010912"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59" name="Shape 57"/>
          <p:cNvSpPr/>
          <p:nvPr/>
        </p:nvSpPr>
        <p:spPr>
          <a:xfrm>
            <a:off x="5286756"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60" name="Shape 58"/>
          <p:cNvSpPr/>
          <p:nvPr/>
        </p:nvSpPr>
        <p:spPr>
          <a:xfrm>
            <a:off x="5562600"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61" name="Shape 59"/>
          <p:cNvSpPr/>
          <p:nvPr/>
        </p:nvSpPr>
        <p:spPr>
          <a:xfrm>
            <a:off x="5838444"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62" name="Shape 60"/>
          <p:cNvSpPr/>
          <p:nvPr/>
        </p:nvSpPr>
        <p:spPr>
          <a:xfrm>
            <a:off x="6114288" y="2610612"/>
            <a:ext cx="275844" cy="315468"/>
          </a:xfrm>
          <a:prstGeom prst="rect">
            <a:avLst/>
          </a:prstGeom>
          <a:solidFill>
            <a:srgbClr val="203847"/>
          </a:solidFill>
          <a:ln w="5080">
            <a:solidFill>
              <a:srgbClr val="FFFFFF"/>
            </a:solidFill>
            <a:prstDash val="solid"/>
          </a:ln>
        </p:spPr>
        <p:txBody>
          <a:bodyPr/>
          <a:lstStyle/>
          <a:p>
            <a:endParaRPr lang="fr-FR"/>
          </a:p>
        </p:txBody>
      </p:sp>
      <p:sp>
        <p:nvSpPr>
          <p:cNvPr id="63" name="Text 61"/>
          <p:cNvSpPr/>
          <p:nvPr/>
        </p:nvSpPr>
        <p:spPr>
          <a:xfrm>
            <a:off x="6114288" y="2638044"/>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64" name="Shape 62"/>
          <p:cNvSpPr/>
          <p:nvPr/>
        </p:nvSpPr>
        <p:spPr>
          <a:xfrm>
            <a:off x="6390132" y="2610612"/>
            <a:ext cx="275844" cy="315468"/>
          </a:xfrm>
          <a:prstGeom prst="rect">
            <a:avLst/>
          </a:prstGeom>
          <a:solidFill>
            <a:srgbClr val="203847"/>
          </a:solidFill>
          <a:ln w="5080">
            <a:solidFill>
              <a:srgbClr val="FFFFFF"/>
            </a:solidFill>
            <a:prstDash val="solid"/>
          </a:ln>
        </p:spPr>
        <p:txBody>
          <a:bodyPr/>
          <a:lstStyle/>
          <a:p>
            <a:endParaRPr lang="fr-FR"/>
          </a:p>
        </p:txBody>
      </p:sp>
      <p:sp>
        <p:nvSpPr>
          <p:cNvPr id="65" name="Text 63"/>
          <p:cNvSpPr/>
          <p:nvPr/>
        </p:nvSpPr>
        <p:spPr>
          <a:xfrm>
            <a:off x="6390132" y="2638044"/>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66" name="Shape 64"/>
          <p:cNvSpPr/>
          <p:nvPr/>
        </p:nvSpPr>
        <p:spPr>
          <a:xfrm>
            <a:off x="6665976" y="2610612"/>
            <a:ext cx="275844" cy="315468"/>
          </a:xfrm>
          <a:prstGeom prst="rect">
            <a:avLst/>
          </a:prstGeom>
          <a:solidFill>
            <a:srgbClr val="203847"/>
          </a:solidFill>
          <a:ln w="5080">
            <a:solidFill>
              <a:srgbClr val="FFFFFF"/>
            </a:solidFill>
            <a:prstDash val="solid"/>
          </a:ln>
        </p:spPr>
        <p:txBody>
          <a:bodyPr/>
          <a:lstStyle/>
          <a:p>
            <a:endParaRPr lang="fr-FR"/>
          </a:p>
        </p:txBody>
      </p:sp>
      <p:sp>
        <p:nvSpPr>
          <p:cNvPr id="67" name="Text 65"/>
          <p:cNvSpPr/>
          <p:nvPr/>
        </p:nvSpPr>
        <p:spPr>
          <a:xfrm>
            <a:off x="6665976" y="2638044"/>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68" name="Shape 66"/>
          <p:cNvSpPr/>
          <p:nvPr/>
        </p:nvSpPr>
        <p:spPr>
          <a:xfrm>
            <a:off x="6941820" y="2610612"/>
            <a:ext cx="275844" cy="315468"/>
          </a:xfrm>
          <a:prstGeom prst="rect">
            <a:avLst/>
          </a:prstGeom>
          <a:solidFill>
            <a:srgbClr val="203847"/>
          </a:solidFill>
          <a:ln w="5080">
            <a:solidFill>
              <a:srgbClr val="FFFFFF"/>
            </a:solidFill>
            <a:prstDash val="solid"/>
          </a:ln>
        </p:spPr>
        <p:txBody>
          <a:bodyPr/>
          <a:lstStyle/>
          <a:p>
            <a:endParaRPr lang="fr-FR"/>
          </a:p>
        </p:txBody>
      </p:sp>
      <p:sp>
        <p:nvSpPr>
          <p:cNvPr id="69" name="Text 67"/>
          <p:cNvSpPr/>
          <p:nvPr/>
        </p:nvSpPr>
        <p:spPr>
          <a:xfrm>
            <a:off x="6941820" y="2638044"/>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70" name="Shape 68"/>
          <p:cNvSpPr/>
          <p:nvPr/>
        </p:nvSpPr>
        <p:spPr>
          <a:xfrm>
            <a:off x="7217664"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71" name="Shape 69"/>
          <p:cNvSpPr/>
          <p:nvPr/>
        </p:nvSpPr>
        <p:spPr>
          <a:xfrm>
            <a:off x="7493508"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72" name="Shape 70"/>
          <p:cNvSpPr/>
          <p:nvPr/>
        </p:nvSpPr>
        <p:spPr>
          <a:xfrm>
            <a:off x="7769352"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73" name="Shape 71"/>
          <p:cNvSpPr/>
          <p:nvPr/>
        </p:nvSpPr>
        <p:spPr>
          <a:xfrm>
            <a:off x="8045196"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74" name="Shape 72"/>
          <p:cNvSpPr/>
          <p:nvPr/>
        </p:nvSpPr>
        <p:spPr>
          <a:xfrm>
            <a:off x="9424416"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75" name="Shape 73"/>
          <p:cNvSpPr/>
          <p:nvPr/>
        </p:nvSpPr>
        <p:spPr>
          <a:xfrm>
            <a:off x="9700260"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76" name="Shape 74"/>
          <p:cNvSpPr/>
          <p:nvPr/>
        </p:nvSpPr>
        <p:spPr>
          <a:xfrm>
            <a:off x="9976104"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77" name="Shape 75"/>
          <p:cNvSpPr/>
          <p:nvPr/>
        </p:nvSpPr>
        <p:spPr>
          <a:xfrm>
            <a:off x="10251948" y="2610612"/>
            <a:ext cx="275844" cy="315468"/>
          </a:xfrm>
          <a:prstGeom prst="rect">
            <a:avLst/>
          </a:prstGeom>
          <a:solidFill>
            <a:srgbClr val="F0F3F5"/>
          </a:solidFill>
          <a:ln w="5080">
            <a:solidFill>
              <a:srgbClr val="F0F3F5"/>
            </a:solidFill>
            <a:prstDash val="solid"/>
          </a:ln>
        </p:spPr>
        <p:txBody>
          <a:bodyPr/>
          <a:lstStyle/>
          <a:p>
            <a:endParaRPr lang="fr-FR"/>
          </a:p>
        </p:txBody>
      </p:sp>
      <p:sp>
        <p:nvSpPr>
          <p:cNvPr id="78" name="Shape 76"/>
          <p:cNvSpPr/>
          <p:nvPr/>
        </p:nvSpPr>
        <p:spPr>
          <a:xfrm>
            <a:off x="548640" y="2926080"/>
            <a:ext cx="11082528" cy="315468"/>
          </a:xfrm>
          <a:prstGeom prst="rect">
            <a:avLst/>
          </a:prstGeom>
          <a:solidFill>
            <a:srgbClr val="FFFFFF"/>
          </a:solidFill>
          <a:ln w="5080">
            <a:solidFill>
              <a:srgbClr val="DCE2E6"/>
            </a:solidFill>
            <a:prstDash val="solid"/>
          </a:ln>
        </p:spPr>
        <p:txBody>
          <a:bodyPr/>
          <a:lstStyle/>
          <a:p>
            <a:endParaRPr lang="fr-FR"/>
          </a:p>
        </p:txBody>
      </p:sp>
      <p:sp>
        <p:nvSpPr>
          <p:cNvPr id="79" name="Text 77"/>
          <p:cNvSpPr/>
          <p:nvPr/>
        </p:nvSpPr>
        <p:spPr>
          <a:xfrm>
            <a:off x="630936" y="2948940"/>
            <a:ext cx="3355848" cy="269748"/>
          </a:xfrm>
          <a:prstGeom prst="rect">
            <a:avLst/>
          </a:prstGeom>
          <a:noFill/>
          <a:ln/>
        </p:spPr>
        <p:txBody>
          <a:bodyPr wrap="square" lIns="0" tIns="0" rIns="0" bIns="0" rtlCol="0" anchor="ctr">
            <a:normAutofit/>
          </a:bodyPr>
          <a:lstStyle/>
          <a:p>
            <a:pPr marL="0" indent="0" algn="l">
              <a:buNone/>
            </a:pPr>
            <a:r>
              <a:rPr lang="fr-FR" altLang="en-US" sz="1310" dirty="0">
                <a:solidFill>
                  <a:srgbClr val="203847"/>
                </a:solidFill>
                <a:latin typeface="Arial" pitchFamily="34" charset="0"/>
                <a:ea typeface="Arial" pitchFamily="34" charset="-122"/>
                <a:cs typeface="Arial" pitchFamily="34" charset="-120"/>
              </a:rPr>
              <a:t>Préparation des tests</a:t>
            </a:r>
            <a:endParaRPr lang="fr-FR" sz="1310" dirty="0"/>
          </a:p>
        </p:txBody>
      </p:sp>
      <p:sp>
        <p:nvSpPr>
          <p:cNvPr id="80" name="Text 78"/>
          <p:cNvSpPr/>
          <p:nvPr/>
        </p:nvSpPr>
        <p:spPr>
          <a:xfrm>
            <a:off x="4050792" y="2948940"/>
            <a:ext cx="932688" cy="269748"/>
          </a:xfrm>
          <a:prstGeom prst="rect">
            <a:avLst/>
          </a:prstGeom>
          <a:noFill/>
          <a:ln/>
        </p:spPr>
        <p:txBody>
          <a:bodyPr wrap="square" lIns="0" tIns="0" rIns="0" bIns="0" rtlCol="0" anchor="ctr">
            <a:normAutofit/>
          </a:bodyPr>
          <a:lstStyle/>
          <a:p>
            <a:pPr marL="0" indent="0" algn="ctr">
              <a:buNone/>
            </a:pPr>
            <a:r>
              <a:rPr lang="fr-FR" altLang="en-US" sz="1130" dirty="0">
                <a:solidFill>
                  <a:srgbClr val="203847"/>
                </a:solidFill>
                <a:latin typeface="Arial" pitchFamily="34" charset="0"/>
                <a:ea typeface="Arial" pitchFamily="34" charset="-122"/>
                <a:cs typeface="Arial" pitchFamily="34" charset="-120"/>
              </a:rPr>
              <a:t>S3-S8</a:t>
            </a:r>
            <a:endParaRPr lang="fr-FR" sz="1130" dirty="0"/>
          </a:p>
        </p:txBody>
      </p:sp>
      <p:sp>
        <p:nvSpPr>
          <p:cNvPr id="81" name="Shape 79"/>
          <p:cNvSpPr/>
          <p:nvPr/>
        </p:nvSpPr>
        <p:spPr>
          <a:xfrm>
            <a:off x="5010912" y="2926080"/>
            <a:ext cx="275844" cy="315468"/>
          </a:xfrm>
          <a:prstGeom prst="rect">
            <a:avLst/>
          </a:prstGeom>
          <a:solidFill>
            <a:srgbClr val="F0F3F5"/>
          </a:solidFill>
          <a:ln w="5080">
            <a:solidFill>
              <a:srgbClr val="F0F3F5"/>
            </a:solidFill>
            <a:prstDash val="solid"/>
          </a:ln>
        </p:spPr>
        <p:txBody>
          <a:bodyPr/>
          <a:lstStyle/>
          <a:p>
            <a:endParaRPr lang="fr-FR"/>
          </a:p>
        </p:txBody>
      </p:sp>
      <p:sp>
        <p:nvSpPr>
          <p:cNvPr id="82" name="Shape 80"/>
          <p:cNvSpPr/>
          <p:nvPr/>
        </p:nvSpPr>
        <p:spPr>
          <a:xfrm>
            <a:off x="5286756" y="2926080"/>
            <a:ext cx="275844" cy="315468"/>
          </a:xfrm>
          <a:prstGeom prst="rect">
            <a:avLst/>
          </a:prstGeom>
          <a:solidFill>
            <a:srgbClr val="F0F3F5"/>
          </a:solidFill>
          <a:ln w="5080">
            <a:solidFill>
              <a:srgbClr val="F0F3F5"/>
            </a:solidFill>
            <a:prstDash val="solid"/>
          </a:ln>
        </p:spPr>
        <p:txBody>
          <a:bodyPr/>
          <a:lstStyle/>
          <a:p>
            <a:endParaRPr lang="fr-FR"/>
          </a:p>
        </p:txBody>
      </p:sp>
      <p:sp>
        <p:nvSpPr>
          <p:cNvPr id="83" name="Shape 81"/>
          <p:cNvSpPr/>
          <p:nvPr/>
        </p:nvSpPr>
        <p:spPr>
          <a:xfrm>
            <a:off x="5562600" y="2926080"/>
            <a:ext cx="275844" cy="315468"/>
          </a:xfrm>
          <a:prstGeom prst="rect">
            <a:avLst/>
          </a:prstGeom>
          <a:solidFill>
            <a:srgbClr val="4D7886"/>
          </a:solidFill>
          <a:ln w="5080">
            <a:solidFill>
              <a:srgbClr val="FFFFFF"/>
            </a:solidFill>
            <a:prstDash val="solid"/>
          </a:ln>
        </p:spPr>
        <p:txBody>
          <a:bodyPr/>
          <a:lstStyle/>
          <a:p>
            <a:endParaRPr lang="fr-FR"/>
          </a:p>
        </p:txBody>
      </p:sp>
      <p:sp>
        <p:nvSpPr>
          <p:cNvPr id="84" name="Text 82"/>
          <p:cNvSpPr/>
          <p:nvPr/>
        </p:nvSpPr>
        <p:spPr>
          <a:xfrm>
            <a:off x="5562600" y="2953512"/>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85" name="Shape 83"/>
          <p:cNvSpPr/>
          <p:nvPr/>
        </p:nvSpPr>
        <p:spPr>
          <a:xfrm>
            <a:off x="5838444" y="2926080"/>
            <a:ext cx="275844" cy="315468"/>
          </a:xfrm>
          <a:prstGeom prst="rect">
            <a:avLst/>
          </a:prstGeom>
          <a:solidFill>
            <a:srgbClr val="4D7886"/>
          </a:solidFill>
          <a:ln w="5080">
            <a:solidFill>
              <a:srgbClr val="FFFFFF"/>
            </a:solidFill>
            <a:prstDash val="solid"/>
          </a:ln>
        </p:spPr>
        <p:txBody>
          <a:bodyPr/>
          <a:lstStyle/>
          <a:p>
            <a:endParaRPr lang="fr-FR"/>
          </a:p>
        </p:txBody>
      </p:sp>
      <p:sp>
        <p:nvSpPr>
          <p:cNvPr id="86" name="Text 84"/>
          <p:cNvSpPr/>
          <p:nvPr/>
        </p:nvSpPr>
        <p:spPr>
          <a:xfrm>
            <a:off x="5838444" y="2953512"/>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87" name="Shape 85"/>
          <p:cNvSpPr/>
          <p:nvPr/>
        </p:nvSpPr>
        <p:spPr>
          <a:xfrm>
            <a:off x="6114288" y="2926080"/>
            <a:ext cx="275844" cy="315468"/>
          </a:xfrm>
          <a:prstGeom prst="rect">
            <a:avLst/>
          </a:prstGeom>
          <a:solidFill>
            <a:srgbClr val="4D7886"/>
          </a:solidFill>
          <a:ln w="5080">
            <a:solidFill>
              <a:srgbClr val="FFFFFF"/>
            </a:solidFill>
            <a:prstDash val="solid"/>
          </a:ln>
        </p:spPr>
        <p:txBody>
          <a:bodyPr/>
          <a:lstStyle/>
          <a:p>
            <a:endParaRPr lang="fr-FR"/>
          </a:p>
        </p:txBody>
      </p:sp>
      <p:sp>
        <p:nvSpPr>
          <p:cNvPr id="88" name="Text 86"/>
          <p:cNvSpPr/>
          <p:nvPr/>
        </p:nvSpPr>
        <p:spPr>
          <a:xfrm>
            <a:off x="6114288" y="2953512"/>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89" name="Shape 87"/>
          <p:cNvSpPr/>
          <p:nvPr/>
        </p:nvSpPr>
        <p:spPr>
          <a:xfrm>
            <a:off x="6390132" y="2926080"/>
            <a:ext cx="275844" cy="315468"/>
          </a:xfrm>
          <a:prstGeom prst="rect">
            <a:avLst/>
          </a:prstGeom>
          <a:solidFill>
            <a:srgbClr val="4D7886"/>
          </a:solidFill>
          <a:ln w="5080">
            <a:solidFill>
              <a:srgbClr val="FFFFFF"/>
            </a:solidFill>
            <a:prstDash val="solid"/>
          </a:ln>
        </p:spPr>
        <p:txBody>
          <a:bodyPr/>
          <a:lstStyle/>
          <a:p>
            <a:endParaRPr lang="fr-FR"/>
          </a:p>
        </p:txBody>
      </p:sp>
      <p:sp>
        <p:nvSpPr>
          <p:cNvPr id="90" name="Text 88"/>
          <p:cNvSpPr/>
          <p:nvPr/>
        </p:nvSpPr>
        <p:spPr>
          <a:xfrm>
            <a:off x="6390132" y="2953512"/>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91" name="Shape 89"/>
          <p:cNvSpPr/>
          <p:nvPr/>
        </p:nvSpPr>
        <p:spPr>
          <a:xfrm>
            <a:off x="6665976" y="2926080"/>
            <a:ext cx="275844" cy="315468"/>
          </a:xfrm>
          <a:prstGeom prst="rect">
            <a:avLst/>
          </a:prstGeom>
          <a:solidFill>
            <a:srgbClr val="4D7886"/>
          </a:solidFill>
          <a:ln w="5080">
            <a:solidFill>
              <a:srgbClr val="FFFFFF"/>
            </a:solidFill>
            <a:prstDash val="solid"/>
          </a:ln>
        </p:spPr>
        <p:txBody>
          <a:bodyPr/>
          <a:lstStyle/>
          <a:p>
            <a:endParaRPr lang="fr-FR"/>
          </a:p>
        </p:txBody>
      </p:sp>
      <p:sp>
        <p:nvSpPr>
          <p:cNvPr id="92" name="Text 90"/>
          <p:cNvSpPr/>
          <p:nvPr/>
        </p:nvSpPr>
        <p:spPr>
          <a:xfrm>
            <a:off x="6665976" y="2953512"/>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93" name="Shape 91"/>
          <p:cNvSpPr/>
          <p:nvPr/>
        </p:nvSpPr>
        <p:spPr>
          <a:xfrm>
            <a:off x="6941820" y="2926080"/>
            <a:ext cx="275844" cy="315468"/>
          </a:xfrm>
          <a:prstGeom prst="rect">
            <a:avLst/>
          </a:prstGeom>
          <a:solidFill>
            <a:srgbClr val="4D7886"/>
          </a:solidFill>
          <a:ln w="5080">
            <a:solidFill>
              <a:srgbClr val="FFFFFF"/>
            </a:solidFill>
            <a:prstDash val="solid"/>
          </a:ln>
        </p:spPr>
        <p:txBody>
          <a:bodyPr/>
          <a:lstStyle/>
          <a:p>
            <a:endParaRPr lang="fr-FR"/>
          </a:p>
        </p:txBody>
      </p:sp>
      <p:sp>
        <p:nvSpPr>
          <p:cNvPr id="94" name="Text 92"/>
          <p:cNvSpPr/>
          <p:nvPr/>
        </p:nvSpPr>
        <p:spPr>
          <a:xfrm>
            <a:off x="6941820" y="2953512"/>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95" name="Shape 93"/>
          <p:cNvSpPr/>
          <p:nvPr/>
        </p:nvSpPr>
        <p:spPr>
          <a:xfrm>
            <a:off x="7217664" y="2926080"/>
            <a:ext cx="275844" cy="315468"/>
          </a:xfrm>
          <a:prstGeom prst="rect">
            <a:avLst/>
          </a:prstGeom>
          <a:solidFill>
            <a:srgbClr val="F0F3F5"/>
          </a:solidFill>
          <a:ln w="5080">
            <a:solidFill>
              <a:srgbClr val="F0F3F5"/>
            </a:solidFill>
            <a:prstDash val="solid"/>
          </a:ln>
        </p:spPr>
        <p:txBody>
          <a:bodyPr/>
          <a:lstStyle/>
          <a:p>
            <a:endParaRPr lang="fr-FR"/>
          </a:p>
        </p:txBody>
      </p:sp>
      <p:sp>
        <p:nvSpPr>
          <p:cNvPr id="96" name="Shape 94"/>
          <p:cNvSpPr/>
          <p:nvPr/>
        </p:nvSpPr>
        <p:spPr>
          <a:xfrm>
            <a:off x="7493508" y="2926080"/>
            <a:ext cx="275844" cy="315468"/>
          </a:xfrm>
          <a:prstGeom prst="rect">
            <a:avLst/>
          </a:prstGeom>
          <a:solidFill>
            <a:srgbClr val="F0F3F5"/>
          </a:solidFill>
          <a:ln w="5080">
            <a:solidFill>
              <a:srgbClr val="F0F3F5"/>
            </a:solidFill>
            <a:prstDash val="solid"/>
          </a:ln>
        </p:spPr>
        <p:txBody>
          <a:bodyPr/>
          <a:lstStyle/>
          <a:p>
            <a:endParaRPr lang="fr-FR"/>
          </a:p>
        </p:txBody>
      </p:sp>
      <p:sp>
        <p:nvSpPr>
          <p:cNvPr id="97" name="Shape 95"/>
          <p:cNvSpPr/>
          <p:nvPr/>
        </p:nvSpPr>
        <p:spPr>
          <a:xfrm>
            <a:off x="7769352" y="2926080"/>
            <a:ext cx="275844" cy="315468"/>
          </a:xfrm>
          <a:prstGeom prst="rect">
            <a:avLst/>
          </a:prstGeom>
          <a:solidFill>
            <a:srgbClr val="F0F3F5"/>
          </a:solidFill>
          <a:ln w="5080">
            <a:solidFill>
              <a:srgbClr val="F0F3F5"/>
            </a:solidFill>
            <a:prstDash val="solid"/>
          </a:ln>
        </p:spPr>
        <p:txBody>
          <a:bodyPr/>
          <a:lstStyle/>
          <a:p>
            <a:endParaRPr lang="fr-FR"/>
          </a:p>
        </p:txBody>
      </p:sp>
      <p:sp>
        <p:nvSpPr>
          <p:cNvPr id="98" name="Shape 96"/>
          <p:cNvSpPr/>
          <p:nvPr/>
        </p:nvSpPr>
        <p:spPr>
          <a:xfrm>
            <a:off x="8045196" y="2926080"/>
            <a:ext cx="275844" cy="315468"/>
          </a:xfrm>
          <a:prstGeom prst="rect">
            <a:avLst/>
          </a:prstGeom>
          <a:solidFill>
            <a:srgbClr val="F0F3F5"/>
          </a:solidFill>
          <a:ln w="5080">
            <a:solidFill>
              <a:srgbClr val="F0F3F5"/>
            </a:solidFill>
            <a:prstDash val="solid"/>
          </a:ln>
        </p:spPr>
        <p:txBody>
          <a:bodyPr/>
          <a:lstStyle/>
          <a:p>
            <a:endParaRPr lang="fr-FR"/>
          </a:p>
        </p:txBody>
      </p:sp>
      <p:sp>
        <p:nvSpPr>
          <p:cNvPr id="99" name="Shape 97"/>
          <p:cNvSpPr/>
          <p:nvPr/>
        </p:nvSpPr>
        <p:spPr>
          <a:xfrm>
            <a:off x="9424416" y="2926080"/>
            <a:ext cx="275844" cy="315468"/>
          </a:xfrm>
          <a:prstGeom prst="rect">
            <a:avLst/>
          </a:prstGeom>
          <a:solidFill>
            <a:srgbClr val="F0F3F5"/>
          </a:solidFill>
          <a:ln w="5080">
            <a:solidFill>
              <a:srgbClr val="F0F3F5"/>
            </a:solidFill>
            <a:prstDash val="solid"/>
          </a:ln>
        </p:spPr>
        <p:txBody>
          <a:bodyPr/>
          <a:lstStyle/>
          <a:p>
            <a:endParaRPr lang="fr-FR"/>
          </a:p>
        </p:txBody>
      </p:sp>
      <p:sp>
        <p:nvSpPr>
          <p:cNvPr id="100" name="Shape 98"/>
          <p:cNvSpPr/>
          <p:nvPr/>
        </p:nvSpPr>
        <p:spPr>
          <a:xfrm>
            <a:off x="9700260" y="2926080"/>
            <a:ext cx="275844" cy="315468"/>
          </a:xfrm>
          <a:prstGeom prst="rect">
            <a:avLst/>
          </a:prstGeom>
          <a:solidFill>
            <a:srgbClr val="F0F3F5"/>
          </a:solidFill>
          <a:ln w="5080">
            <a:solidFill>
              <a:srgbClr val="F0F3F5"/>
            </a:solidFill>
            <a:prstDash val="solid"/>
          </a:ln>
        </p:spPr>
        <p:txBody>
          <a:bodyPr/>
          <a:lstStyle/>
          <a:p>
            <a:endParaRPr lang="fr-FR"/>
          </a:p>
        </p:txBody>
      </p:sp>
      <p:sp>
        <p:nvSpPr>
          <p:cNvPr id="101" name="Shape 99"/>
          <p:cNvSpPr/>
          <p:nvPr/>
        </p:nvSpPr>
        <p:spPr>
          <a:xfrm>
            <a:off x="9976104" y="2926080"/>
            <a:ext cx="275844" cy="315468"/>
          </a:xfrm>
          <a:prstGeom prst="rect">
            <a:avLst/>
          </a:prstGeom>
          <a:solidFill>
            <a:srgbClr val="F0F3F5"/>
          </a:solidFill>
          <a:ln w="5080">
            <a:solidFill>
              <a:srgbClr val="F0F3F5"/>
            </a:solidFill>
            <a:prstDash val="solid"/>
          </a:ln>
        </p:spPr>
        <p:txBody>
          <a:bodyPr/>
          <a:lstStyle/>
          <a:p>
            <a:endParaRPr lang="fr-FR"/>
          </a:p>
        </p:txBody>
      </p:sp>
      <p:sp>
        <p:nvSpPr>
          <p:cNvPr id="102" name="Shape 100"/>
          <p:cNvSpPr/>
          <p:nvPr/>
        </p:nvSpPr>
        <p:spPr>
          <a:xfrm>
            <a:off x="10251948" y="2926080"/>
            <a:ext cx="275844" cy="315468"/>
          </a:xfrm>
          <a:prstGeom prst="rect">
            <a:avLst/>
          </a:prstGeom>
          <a:solidFill>
            <a:srgbClr val="F0F3F5"/>
          </a:solidFill>
          <a:ln w="5080">
            <a:solidFill>
              <a:srgbClr val="F0F3F5"/>
            </a:solidFill>
            <a:prstDash val="solid"/>
          </a:ln>
        </p:spPr>
        <p:txBody>
          <a:bodyPr/>
          <a:lstStyle/>
          <a:p>
            <a:endParaRPr lang="fr-FR"/>
          </a:p>
        </p:txBody>
      </p:sp>
      <p:sp>
        <p:nvSpPr>
          <p:cNvPr id="103" name="Shape 101"/>
          <p:cNvSpPr/>
          <p:nvPr/>
        </p:nvSpPr>
        <p:spPr>
          <a:xfrm>
            <a:off x="548640" y="3241548"/>
            <a:ext cx="11082528" cy="315468"/>
          </a:xfrm>
          <a:prstGeom prst="rect">
            <a:avLst/>
          </a:prstGeom>
          <a:solidFill>
            <a:srgbClr val="F0F3F5"/>
          </a:solidFill>
          <a:ln w="5080">
            <a:solidFill>
              <a:srgbClr val="DCE2E6"/>
            </a:solidFill>
            <a:prstDash val="solid"/>
          </a:ln>
        </p:spPr>
        <p:txBody>
          <a:bodyPr/>
          <a:lstStyle/>
          <a:p>
            <a:endParaRPr lang="fr-FR"/>
          </a:p>
        </p:txBody>
      </p:sp>
      <p:sp>
        <p:nvSpPr>
          <p:cNvPr id="104" name="Text 102"/>
          <p:cNvSpPr/>
          <p:nvPr/>
        </p:nvSpPr>
        <p:spPr>
          <a:xfrm>
            <a:off x="630936" y="3264408"/>
            <a:ext cx="3355848" cy="269748"/>
          </a:xfrm>
          <a:prstGeom prst="rect">
            <a:avLst/>
          </a:prstGeom>
          <a:noFill/>
          <a:ln/>
        </p:spPr>
        <p:txBody>
          <a:bodyPr wrap="square" lIns="0" tIns="0" rIns="0" bIns="0" rtlCol="0" anchor="ctr">
            <a:normAutofit/>
          </a:bodyPr>
          <a:lstStyle/>
          <a:p>
            <a:pPr marL="0" indent="0" algn="l">
              <a:buNone/>
            </a:pPr>
            <a:r>
              <a:rPr lang="fr-FR" altLang="en-US" sz="1310" dirty="0">
                <a:solidFill>
                  <a:srgbClr val="203847"/>
                </a:solidFill>
                <a:latin typeface="Arial" pitchFamily="34" charset="0"/>
                <a:ea typeface="Arial" pitchFamily="34" charset="-122"/>
                <a:cs typeface="Arial" pitchFamily="34" charset="-120"/>
              </a:rPr>
              <a:t>Environnements et développement</a:t>
            </a:r>
            <a:endParaRPr lang="fr-FR" sz="1310" dirty="0"/>
          </a:p>
        </p:txBody>
      </p:sp>
      <p:sp>
        <p:nvSpPr>
          <p:cNvPr id="105" name="Text 103"/>
          <p:cNvSpPr/>
          <p:nvPr/>
        </p:nvSpPr>
        <p:spPr>
          <a:xfrm>
            <a:off x="4050792" y="3264408"/>
            <a:ext cx="932688" cy="269748"/>
          </a:xfrm>
          <a:prstGeom prst="rect">
            <a:avLst/>
          </a:prstGeom>
          <a:noFill/>
          <a:ln/>
        </p:spPr>
        <p:txBody>
          <a:bodyPr wrap="square" lIns="0" tIns="0" rIns="0" bIns="0" rtlCol="0" anchor="ctr">
            <a:normAutofit/>
          </a:bodyPr>
          <a:lstStyle/>
          <a:p>
            <a:pPr marL="0" indent="0" algn="ctr">
              <a:buNone/>
            </a:pPr>
            <a:r>
              <a:rPr lang="fr-FR" altLang="en-US" sz="1130" dirty="0">
                <a:solidFill>
                  <a:srgbClr val="203847"/>
                </a:solidFill>
                <a:latin typeface="Arial" pitchFamily="34" charset="0"/>
                <a:ea typeface="Arial" pitchFamily="34" charset="-122"/>
                <a:cs typeface="Arial" pitchFamily="34" charset="-120"/>
              </a:rPr>
              <a:t>S9-S14</a:t>
            </a:r>
            <a:endParaRPr lang="fr-FR" sz="1130" dirty="0"/>
          </a:p>
        </p:txBody>
      </p:sp>
      <p:sp>
        <p:nvSpPr>
          <p:cNvPr id="106" name="Shape 104"/>
          <p:cNvSpPr/>
          <p:nvPr/>
        </p:nvSpPr>
        <p:spPr>
          <a:xfrm>
            <a:off x="5010912" y="3241548"/>
            <a:ext cx="275844" cy="315468"/>
          </a:xfrm>
          <a:prstGeom prst="rect">
            <a:avLst/>
          </a:prstGeom>
          <a:solidFill>
            <a:srgbClr val="F0F3F5"/>
          </a:solidFill>
          <a:ln w="5080">
            <a:solidFill>
              <a:srgbClr val="F0F3F5"/>
            </a:solidFill>
            <a:prstDash val="solid"/>
          </a:ln>
        </p:spPr>
        <p:txBody>
          <a:bodyPr/>
          <a:lstStyle/>
          <a:p>
            <a:endParaRPr lang="fr-FR"/>
          </a:p>
        </p:txBody>
      </p:sp>
      <p:sp>
        <p:nvSpPr>
          <p:cNvPr id="107" name="Shape 105"/>
          <p:cNvSpPr/>
          <p:nvPr/>
        </p:nvSpPr>
        <p:spPr>
          <a:xfrm>
            <a:off x="5286756" y="3241548"/>
            <a:ext cx="275844" cy="315468"/>
          </a:xfrm>
          <a:prstGeom prst="rect">
            <a:avLst/>
          </a:prstGeom>
          <a:solidFill>
            <a:srgbClr val="F0F3F5"/>
          </a:solidFill>
          <a:ln w="5080">
            <a:solidFill>
              <a:srgbClr val="F0F3F5"/>
            </a:solidFill>
            <a:prstDash val="solid"/>
          </a:ln>
        </p:spPr>
        <p:txBody>
          <a:bodyPr/>
          <a:lstStyle/>
          <a:p>
            <a:endParaRPr lang="fr-FR"/>
          </a:p>
        </p:txBody>
      </p:sp>
      <p:sp>
        <p:nvSpPr>
          <p:cNvPr id="108" name="Shape 106"/>
          <p:cNvSpPr/>
          <p:nvPr/>
        </p:nvSpPr>
        <p:spPr>
          <a:xfrm>
            <a:off x="5562600" y="3241548"/>
            <a:ext cx="275844" cy="315468"/>
          </a:xfrm>
          <a:prstGeom prst="rect">
            <a:avLst/>
          </a:prstGeom>
          <a:solidFill>
            <a:srgbClr val="F0F3F5"/>
          </a:solidFill>
          <a:ln w="5080">
            <a:solidFill>
              <a:srgbClr val="F0F3F5"/>
            </a:solidFill>
            <a:prstDash val="solid"/>
          </a:ln>
        </p:spPr>
        <p:txBody>
          <a:bodyPr/>
          <a:lstStyle/>
          <a:p>
            <a:endParaRPr lang="fr-FR"/>
          </a:p>
        </p:txBody>
      </p:sp>
      <p:sp>
        <p:nvSpPr>
          <p:cNvPr id="109" name="Shape 107"/>
          <p:cNvSpPr/>
          <p:nvPr/>
        </p:nvSpPr>
        <p:spPr>
          <a:xfrm>
            <a:off x="5838444" y="3241548"/>
            <a:ext cx="275844" cy="315468"/>
          </a:xfrm>
          <a:prstGeom prst="rect">
            <a:avLst/>
          </a:prstGeom>
          <a:solidFill>
            <a:srgbClr val="F0F3F5"/>
          </a:solidFill>
          <a:ln w="5080">
            <a:solidFill>
              <a:srgbClr val="F0F3F5"/>
            </a:solidFill>
            <a:prstDash val="solid"/>
          </a:ln>
        </p:spPr>
        <p:txBody>
          <a:bodyPr/>
          <a:lstStyle/>
          <a:p>
            <a:endParaRPr lang="fr-FR"/>
          </a:p>
        </p:txBody>
      </p:sp>
      <p:sp>
        <p:nvSpPr>
          <p:cNvPr id="110" name="Shape 108"/>
          <p:cNvSpPr/>
          <p:nvPr/>
        </p:nvSpPr>
        <p:spPr>
          <a:xfrm>
            <a:off x="7217664" y="3241548"/>
            <a:ext cx="275844" cy="315468"/>
          </a:xfrm>
          <a:prstGeom prst="rect">
            <a:avLst/>
          </a:prstGeom>
          <a:solidFill>
            <a:srgbClr val="203847"/>
          </a:solidFill>
          <a:ln w="5080">
            <a:solidFill>
              <a:srgbClr val="FFFFFF"/>
            </a:solidFill>
            <a:prstDash val="solid"/>
          </a:ln>
        </p:spPr>
        <p:txBody>
          <a:bodyPr/>
          <a:lstStyle/>
          <a:p>
            <a:endParaRPr lang="fr-FR"/>
          </a:p>
        </p:txBody>
      </p:sp>
      <p:sp>
        <p:nvSpPr>
          <p:cNvPr id="111" name="Text 109"/>
          <p:cNvSpPr/>
          <p:nvPr/>
        </p:nvSpPr>
        <p:spPr>
          <a:xfrm>
            <a:off x="7217664" y="3268980"/>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12" name="Shape 110"/>
          <p:cNvSpPr/>
          <p:nvPr/>
        </p:nvSpPr>
        <p:spPr>
          <a:xfrm>
            <a:off x="7493508" y="3241548"/>
            <a:ext cx="275844" cy="315468"/>
          </a:xfrm>
          <a:prstGeom prst="rect">
            <a:avLst/>
          </a:prstGeom>
          <a:solidFill>
            <a:srgbClr val="203847"/>
          </a:solidFill>
          <a:ln w="5080">
            <a:solidFill>
              <a:srgbClr val="FFFFFF"/>
            </a:solidFill>
            <a:prstDash val="solid"/>
          </a:ln>
        </p:spPr>
        <p:txBody>
          <a:bodyPr/>
          <a:lstStyle/>
          <a:p>
            <a:endParaRPr lang="fr-FR"/>
          </a:p>
        </p:txBody>
      </p:sp>
      <p:sp>
        <p:nvSpPr>
          <p:cNvPr id="113" name="Text 111"/>
          <p:cNvSpPr/>
          <p:nvPr/>
        </p:nvSpPr>
        <p:spPr>
          <a:xfrm>
            <a:off x="7493508" y="3268980"/>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14" name="Shape 112"/>
          <p:cNvSpPr/>
          <p:nvPr/>
        </p:nvSpPr>
        <p:spPr>
          <a:xfrm>
            <a:off x="7769352" y="3241548"/>
            <a:ext cx="275844" cy="315468"/>
          </a:xfrm>
          <a:prstGeom prst="rect">
            <a:avLst/>
          </a:prstGeom>
          <a:solidFill>
            <a:srgbClr val="203847"/>
          </a:solidFill>
          <a:ln w="5080">
            <a:solidFill>
              <a:srgbClr val="FFFFFF"/>
            </a:solidFill>
            <a:prstDash val="solid"/>
          </a:ln>
        </p:spPr>
        <p:txBody>
          <a:bodyPr/>
          <a:lstStyle/>
          <a:p>
            <a:endParaRPr lang="fr-FR"/>
          </a:p>
        </p:txBody>
      </p:sp>
      <p:sp>
        <p:nvSpPr>
          <p:cNvPr id="115" name="Text 113"/>
          <p:cNvSpPr/>
          <p:nvPr/>
        </p:nvSpPr>
        <p:spPr>
          <a:xfrm>
            <a:off x="7769352" y="3268980"/>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16" name="Shape 114"/>
          <p:cNvSpPr/>
          <p:nvPr/>
        </p:nvSpPr>
        <p:spPr>
          <a:xfrm>
            <a:off x="8045196" y="3241548"/>
            <a:ext cx="275844" cy="315468"/>
          </a:xfrm>
          <a:prstGeom prst="rect">
            <a:avLst/>
          </a:prstGeom>
          <a:solidFill>
            <a:srgbClr val="203847"/>
          </a:solidFill>
          <a:ln w="5080">
            <a:solidFill>
              <a:srgbClr val="FFFFFF"/>
            </a:solidFill>
            <a:prstDash val="solid"/>
          </a:ln>
        </p:spPr>
        <p:txBody>
          <a:bodyPr/>
          <a:lstStyle/>
          <a:p>
            <a:endParaRPr lang="fr-FR"/>
          </a:p>
        </p:txBody>
      </p:sp>
      <p:sp>
        <p:nvSpPr>
          <p:cNvPr id="117" name="Text 115"/>
          <p:cNvSpPr/>
          <p:nvPr/>
        </p:nvSpPr>
        <p:spPr>
          <a:xfrm>
            <a:off x="8045196" y="3268980"/>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18" name="Shape 116"/>
          <p:cNvSpPr/>
          <p:nvPr/>
        </p:nvSpPr>
        <p:spPr>
          <a:xfrm>
            <a:off x="8321040" y="3241548"/>
            <a:ext cx="275844" cy="315468"/>
          </a:xfrm>
          <a:prstGeom prst="rect">
            <a:avLst/>
          </a:prstGeom>
          <a:solidFill>
            <a:srgbClr val="203847"/>
          </a:solidFill>
          <a:ln w="5080">
            <a:solidFill>
              <a:srgbClr val="FFFFFF"/>
            </a:solidFill>
            <a:prstDash val="solid"/>
          </a:ln>
        </p:spPr>
        <p:txBody>
          <a:bodyPr/>
          <a:lstStyle/>
          <a:p>
            <a:endParaRPr lang="fr-FR"/>
          </a:p>
        </p:txBody>
      </p:sp>
      <p:sp>
        <p:nvSpPr>
          <p:cNvPr id="119" name="Text 117"/>
          <p:cNvSpPr/>
          <p:nvPr/>
        </p:nvSpPr>
        <p:spPr>
          <a:xfrm>
            <a:off x="8321040" y="3268980"/>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20" name="Shape 118"/>
          <p:cNvSpPr/>
          <p:nvPr/>
        </p:nvSpPr>
        <p:spPr>
          <a:xfrm>
            <a:off x="8596884" y="3241548"/>
            <a:ext cx="275844" cy="315468"/>
          </a:xfrm>
          <a:prstGeom prst="rect">
            <a:avLst/>
          </a:prstGeom>
          <a:solidFill>
            <a:srgbClr val="203847"/>
          </a:solidFill>
          <a:ln w="5080">
            <a:solidFill>
              <a:srgbClr val="FFFFFF"/>
            </a:solidFill>
            <a:prstDash val="solid"/>
          </a:ln>
        </p:spPr>
        <p:txBody>
          <a:bodyPr/>
          <a:lstStyle/>
          <a:p>
            <a:endParaRPr lang="fr-FR"/>
          </a:p>
        </p:txBody>
      </p:sp>
      <p:sp>
        <p:nvSpPr>
          <p:cNvPr id="121" name="Text 119"/>
          <p:cNvSpPr/>
          <p:nvPr/>
        </p:nvSpPr>
        <p:spPr>
          <a:xfrm>
            <a:off x="8596884" y="3268980"/>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22" name="Shape 120"/>
          <p:cNvSpPr/>
          <p:nvPr/>
        </p:nvSpPr>
        <p:spPr>
          <a:xfrm>
            <a:off x="9424416" y="3241548"/>
            <a:ext cx="275844" cy="315468"/>
          </a:xfrm>
          <a:prstGeom prst="rect">
            <a:avLst/>
          </a:prstGeom>
          <a:solidFill>
            <a:srgbClr val="F0F3F5"/>
          </a:solidFill>
          <a:ln w="5080">
            <a:solidFill>
              <a:srgbClr val="F0F3F5"/>
            </a:solidFill>
            <a:prstDash val="solid"/>
          </a:ln>
        </p:spPr>
        <p:txBody>
          <a:bodyPr/>
          <a:lstStyle/>
          <a:p>
            <a:endParaRPr lang="fr-FR"/>
          </a:p>
        </p:txBody>
      </p:sp>
      <p:sp>
        <p:nvSpPr>
          <p:cNvPr id="123" name="Shape 121"/>
          <p:cNvSpPr/>
          <p:nvPr/>
        </p:nvSpPr>
        <p:spPr>
          <a:xfrm>
            <a:off x="9700260" y="3241548"/>
            <a:ext cx="275844" cy="315468"/>
          </a:xfrm>
          <a:prstGeom prst="rect">
            <a:avLst/>
          </a:prstGeom>
          <a:solidFill>
            <a:srgbClr val="F0F3F5"/>
          </a:solidFill>
          <a:ln w="5080">
            <a:solidFill>
              <a:srgbClr val="F0F3F5"/>
            </a:solidFill>
            <a:prstDash val="solid"/>
          </a:ln>
        </p:spPr>
        <p:txBody>
          <a:bodyPr/>
          <a:lstStyle/>
          <a:p>
            <a:endParaRPr lang="fr-FR"/>
          </a:p>
        </p:txBody>
      </p:sp>
      <p:sp>
        <p:nvSpPr>
          <p:cNvPr id="124" name="Shape 122"/>
          <p:cNvSpPr/>
          <p:nvPr/>
        </p:nvSpPr>
        <p:spPr>
          <a:xfrm>
            <a:off x="9976104" y="3241548"/>
            <a:ext cx="275844" cy="315468"/>
          </a:xfrm>
          <a:prstGeom prst="rect">
            <a:avLst/>
          </a:prstGeom>
          <a:solidFill>
            <a:srgbClr val="F0F3F5"/>
          </a:solidFill>
          <a:ln w="5080">
            <a:solidFill>
              <a:srgbClr val="F0F3F5"/>
            </a:solidFill>
            <a:prstDash val="solid"/>
          </a:ln>
        </p:spPr>
        <p:txBody>
          <a:bodyPr/>
          <a:lstStyle/>
          <a:p>
            <a:endParaRPr lang="fr-FR"/>
          </a:p>
        </p:txBody>
      </p:sp>
      <p:sp>
        <p:nvSpPr>
          <p:cNvPr id="125" name="Shape 123"/>
          <p:cNvSpPr/>
          <p:nvPr/>
        </p:nvSpPr>
        <p:spPr>
          <a:xfrm>
            <a:off x="10251948" y="3241548"/>
            <a:ext cx="275844" cy="315468"/>
          </a:xfrm>
          <a:prstGeom prst="rect">
            <a:avLst/>
          </a:prstGeom>
          <a:solidFill>
            <a:srgbClr val="F0F3F5"/>
          </a:solidFill>
          <a:ln w="5080">
            <a:solidFill>
              <a:srgbClr val="F0F3F5"/>
            </a:solidFill>
            <a:prstDash val="solid"/>
          </a:ln>
        </p:spPr>
        <p:txBody>
          <a:bodyPr/>
          <a:lstStyle/>
          <a:p>
            <a:endParaRPr lang="fr-FR"/>
          </a:p>
        </p:txBody>
      </p:sp>
      <p:sp>
        <p:nvSpPr>
          <p:cNvPr id="126" name="Shape 124"/>
          <p:cNvSpPr/>
          <p:nvPr/>
        </p:nvSpPr>
        <p:spPr>
          <a:xfrm>
            <a:off x="548640" y="3557016"/>
            <a:ext cx="11082528" cy="315468"/>
          </a:xfrm>
          <a:prstGeom prst="rect">
            <a:avLst/>
          </a:prstGeom>
          <a:solidFill>
            <a:srgbClr val="FFFFFF"/>
          </a:solidFill>
          <a:ln w="5080">
            <a:solidFill>
              <a:srgbClr val="DCE2E6"/>
            </a:solidFill>
            <a:prstDash val="solid"/>
          </a:ln>
        </p:spPr>
        <p:txBody>
          <a:bodyPr/>
          <a:lstStyle/>
          <a:p>
            <a:endParaRPr lang="fr-FR"/>
          </a:p>
        </p:txBody>
      </p:sp>
      <p:sp>
        <p:nvSpPr>
          <p:cNvPr id="127" name="Text 125"/>
          <p:cNvSpPr/>
          <p:nvPr/>
        </p:nvSpPr>
        <p:spPr>
          <a:xfrm>
            <a:off x="630936" y="3579876"/>
            <a:ext cx="3355848" cy="269748"/>
          </a:xfrm>
          <a:prstGeom prst="rect">
            <a:avLst/>
          </a:prstGeom>
          <a:noFill/>
          <a:ln/>
        </p:spPr>
        <p:txBody>
          <a:bodyPr wrap="square" lIns="0" tIns="0" rIns="0" bIns="0" rtlCol="0" anchor="ctr">
            <a:normAutofit/>
          </a:bodyPr>
          <a:lstStyle/>
          <a:p>
            <a:pPr marL="0" indent="0" algn="l">
              <a:buNone/>
            </a:pPr>
            <a:r>
              <a:rPr lang="fr-FR" altLang="en-US" sz="1310" dirty="0">
                <a:solidFill>
                  <a:srgbClr val="203847"/>
                </a:solidFill>
                <a:latin typeface="Arial" pitchFamily="34" charset="0"/>
                <a:ea typeface="Arial" pitchFamily="34" charset="-122"/>
                <a:cs typeface="Arial" pitchFamily="34" charset="-120"/>
              </a:rPr>
              <a:t>Tests unitaires</a:t>
            </a:r>
            <a:endParaRPr lang="fr-FR" sz="1310" dirty="0"/>
          </a:p>
        </p:txBody>
      </p:sp>
      <p:sp>
        <p:nvSpPr>
          <p:cNvPr id="128" name="Text 126"/>
          <p:cNvSpPr/>
          <p:nvPr/>
        </p:nvSpPr>
        <p:spPr>
          <a:xfrm>
            <a:off x="4050792" y="3579876"/>
            <a:ext cx="932688" cy="269748"/>
          </a:xfrm>
          <a:prstGeom prst="rect">
            <a:avLst/>
          </a:prstGeom>
          <a:noFill/>
          <a:ln/>
        </p:spPr>
        <p:txBody>
          <a:bodyPr wrap="square" lIns="0" tIns="0" rIns="0" bIns="0" rtlCol="0" anchor="ctr">
            <a:normAutofit/>
          </a:bodyPr>
          <a:lstStyle/>
          <a:p>
            <a:pPr marL="0" indent="0" algn="ctr">
              <a:buNone/>
            </a:pPr>
            <a:r>
              <a:rPr lang="fr-FR" altLang="en-US" sz="1130" dirty="0">
                <a:solidFill>
                  <a:srgbClr val="203847"/>
                </a:solidFill>
                <a:latin typeface="Arial" pitchFamily="34" charset="0"/>
                <a:ea typeface="Arial" pitchFamily="34" charset="-122"/>
                <a:cs typeface="Arial" pitchFamily="34" charset="-120"/>
              </a:rPr>
              <a:t>S11-S14</a:t>
            </a:r>
            <a:endParaRPr lang="fr-FR" sz="1130" dirty="0"/>
          </a:p>
        </p:txBody>
      </p:sp>
      <p:sp>
        <p:nvSpPr>
          <p:cNvPr id="129" name="Shape 127"/>
          <p:cNvSpPr/>
          <p:nvPr/>
        </p:nvSpPr>
        <p:spPr>
          <a:xfrm>
            <a:off x="5010912" y="3557016"/>
            <a:ext cx="275844" cy="315468"/>
          </a:xfrm>
          <a:prstGeom prst="rect">
            <a:avLst/>
          </a:prstGeom>
          <a:solidFill>
            <a:srgbClr val="F0F3F5"/>
          </a:solidFill>
          <a:ln w="5080">
            <a:solidFill>
              <a:srgbClr val="F0F3F5"/>
            </a:solidFill>
            <a:prstDash val="solid"/>
          </a:ln>
        </p:spPr>
        <p:txBody>
          <a:bodyPr/>
          <a:lstStyle/>
          <a:p>
            <a:endParaRPr lang="fr-FR"/>
          </a:p>
        </p:txBody>
      </p:sp>
      <p:sp>
        <p:nvSpPr>
          <p:cNvPr id="130" name="Shape 128"/>
          <p:cNvSpPr/>
          <p:nvPr/>
        </p:nvSpPr>
        <p:spPr>
          <a:xfrm>
            <a:off x="5286756" y="3557016"/>
            <a:ext cx="275844" cy="315468"/>
          </a:xfrm>
          <a:prstGeom prst="rect">
            <a:avLst/>
          </a:prstGeom>
          <a:solidFill>
            <a:srgbClr val="F0F3F5"/>
          </a:solidFill>
          <a:ln w="5080">
            <a:solidFill>
              <a:srgbClr val="F0F3F5"/>
            </a:solidFill>
            <a:prstDash val="solid"/>
          </a:ln>
        </p:spPr>
        <p:txBody>
          <a:bodyPr/>
          <a:lstStyle/>
          <a:p>
            <a:endParaRPr lang="fr-FR"/>
          </a:p>
        </p:txBody>
      </p:sp>
      <p:sp>
        <p:nvSpPr>
          <p:cNvPr id="131" name="Shape 129"/>
          <p:cNvSpPr/>
          <p:nvPr/>
        </p:nvSpPr>
        <p:spPr>
          <a:xfrm>
            <a:off x="5562600" y="3557016"/>
            <a:ext cx="275844" cy="315468"/>
          </a:xfrm>
          <a:prstGeom prst="rect">
            <a:avLst/>
          </a:prstGeom>
          <a:solidFill>
            <a:srgbClr val="F0F3F5"/>
          </a:solidFill>
          <a:ln w="5080">
            <a:solidFill>
              <a:srgbClr val="F0F3F5"/>
            </a:solidFill>
            <a:prstDash val="solid"/>
          </a:ln>
        </p:spPr>
        <p:txBody>
          <a:bodyPr/>
          <a:lstStyle/>
          <a:p>
            <a:endParaRPr lang="fr-FR"/>
          </a:p>
        </p:txBody>
      </p:sp>
      <p:sp>
        <p:nvSpPr>
          <p:cNvPr id="132" name="Shape 130"/>
          <p:cNvSpPr/>
          <p:nvPr/>
        </p:nvSpPr>
        <p:spPr>
          <a:xfrm>
            <a:off x="5838444" y="3557016"/>
            <a:ext cx="275844" cy="315468"/>
          </a:xfrm>
          <a:prstGeom prst="rect">
            <a:avLst/>
          </a:prstGeom>
          <a:solidFill>
            <a:srgbClr val="F0F3F5"/>
          </a:solidFill>
          <a:ln w="5080">
            <a:solidFill>
              <a:srgbClr val="F0F3F5"/>
            </a:solidFill>
            <a:prstDash val="solid"/>
          </a:ln>
        </p:spPr>
        <p:txBody>
          <a:bodyPr/>
          <a:lstStyle/>
          <a:p>
            <a:endParaRPr lang="fr-FR"/>
          </a:p>
        </p:txBody>
      </p:sp>
      <p:sp>
        <p:nvSpPr>
          <p:cNvPr id="133" name="Shape 131"/>
          <p:cNvSpPr/>
          <p:nvPr/>
        </p:nvSpPr>
        <p:spPr>
          <a:xfrm>
            <a:off x="7217664" y="3557016"/>
            <a:ext cx="275844" cy="315468"/>
          </a:xfrm>
          <a:prstGeom prst="rect">
            <a:avLst/>
          </a:prstGeom>
          <a:solidFill>
            <a:srgbClr val="F0F3F5"/>
          </a:solidFill>
          <a:ln w="5080">
            <a:solidFill>
              <a:srgbClr val="F0F3F5"/>
            </a:solidFill>
            <a:prstDash val="solid"/>
          </a:ln>
        </p:spPr>
        <p:txBody>
          <a:bodyPr/>
          <a:lstStyle/>
          <a:p>
            <a:endParaRPr lang="fr-FR"/>
          </a:p>
        </p:txBody>
      </p:sp>
      <p:sp>
        <p:nvSpPr>
          <p:cNvPr id="134" name="Shape 132"/>
          <p:cNvSpPr/>
          <p:nvPr/>
        </p:nvSpPr>
        <p:spPr>
          <a:xfrm>
            <a:off x="7493508" y="3557016"/>
            <a:ext cx="275844" cy="315468"/>
          </a:xfrm>
          <a:prstGeom prst="rect">
            <a:avLst/>
          </a:prstGeom>
          <a:solidFill>
            <a:srgbClr val="F0F3F5"/>
          </a:solidFill>
          <a:ln w="5080">
            <a:solidFill>
              <a:srgbClr val="F0F3F5"/>
            </a:solidFill>
            <a:prstDash val="solid"/>
          </a:ln>
        </p:spPr>
        <p:txBody>
          <a:bodyPr/>
          <a:lstStyle/>
          <a:p>
            <a:endParaRPr lang="fr-FR"/>
          </a:p>
        </p:txBody>
      </p:sp>
      <p:sp>
        <p:nvSpPr>
          <p:cNvPr id="135" name="Shape 133"/>
          <p:cNvSpPr/>
          <p:nvPr/>
        </p:nvSpPr>
        <p:spPr>
          <a:xfrm>
            <a:off x="7769352" y="3557016"/>
            <a:ext cx="275844" cy="315468"/>
          </a:xfrm>
          <a:prstGeom prst="rect">
            <a:avLst/>
          </a:prstGeom>
          <a:solidFill>
            <a:srgbClr val="C52F3C"/>
          </a:solidFill>
          <a:ln w="5080">
            <a:solidFill>
              <a:srgbClr val="FFFFFF"/>
            </a:solidFill>
            <a:prstDash val="solid"/>
          </a:ln>
        </p:spPr>
        <p:txBody>
          <a:bodyPr/>
          <a:lstStyle/>
          <a:p>
            <a:endParaRPr lang="fr-FR"/>
          </a:p>
        </p:txBody>
      </p:sp>
      <p:sp>
        <p:nvSpPr>
          <p:cNvPr id="136" name="Text 134"/>
          <p:cNvSpPr/>
          <p:nvPr/>
        </p:nvSpPr>
        <p:spPr>
          <a:xfrm>
            <a:off x="7769352" y="3584448"/>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37" name="Shape 135"/>
          <p:cNvSpPr/>
          <p:nvPr/>
        </p:nvSpPr>
        <p:spPr>
          <a:xfrm>
            <a:off x="8045196" y="3557016"/>
            <a:ext cx="275844" cy="315468"/>
          </a:xfrm>
          <a:prstGeom prst="rect">
            <a:avLst/>
          </a:prstGeom>
          <a:solidFill>
            <a:srgbClr val="C52F3C"/>
          </a:solidFill>
          <a:ln w="5080">
            <a:solidFill>
              <a:srgbClr val="FFFFFF"/>
            </a:solidFill>
            <a:prstDash val="solid"/>
          </a:ln>
        </p:spPr>
        <p:txBody>
          <a:bodyPr/>
          <a:lstStyle/>
          <a:p>
            <a:endParaRPr lang="fr-FR"/>
          </a:p>
        </p:txBody>
      </p:sp>
      <p:sp>
        <p:nvSpPr>
          <p:cNvPr id="138" name="Text 136"/>
          <p:cNvSpPr/>
          <p:nvPr/>
        </p:nvSpPr>
        <p:spPr>
          <a:xfrm>
            <a:off x="8045196" y="3584448"/>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39" name="Shape 137"/>
          <p:cNvSpPr/>
          <p:nvPr/>
        </p:nvSpPr>
        <p:spPr>
          <a:xfrm>
            <a:off x="8321040" y="3557016"/>
            <a:ext cx="275844" cy="315468"/>
          </a:xfrm>
          <a:prstGeom prst="rect">
            <a:avLst/>
          </a:prstGeom>
          <a:solidFill>
            <a:srgbClr val="C52F3C"/>
          </a:solidFill>
          <a:ln w="5080">
            <a:solidFill>
              <a:srgbClr val="FFFFFF"/>
            </a:solidFill>
            <a:prstDash val="solid"/>
          </a:ln>
        </p:spPr>
        <p:txBody>
          <a:bodyPr/>
          <a:lstStyle/>
          <a:p>
            <a:endParaRPr lang="fr-FR"/>
          </a:p>
        </p:txBody>
      </p:sp>
      <p:sp>
        <p:nvSpPr>
          <p:cNvPr id="140" name="Text 138"/>
          <p:cNvSpPr/>
          <p:nvPr/>
        </p:nvSpPr>
        <p:spPr>
          <a:xfrm>
            <a:off x="8321040" y="3584448"/>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41" name="Shape 139"/>
          <p:cNvSpPr/>
          <p:nvPr/>
        </p:nvSpPr>
        <p:spPr>
          <a:xfrm>
            <a:off x="8596884" y="3557016"/>
            <a:ext cx="275844" cy="315468"/>
          </a:xfrm>
          <a:prstGeom prst="rect">
            <a:avLst/>
          </a:prstGeom>
          <a:solidFill>
            <a:srgbClr val="C52F3C"/>
          </a:solidFill>
          <a:ln w="5080">
            <a:solidFill>
              <a:srgbClr val="FFFFFF"/>
            </a:solidFill>
            <a:prstDash val="solid"/>
          </a:ln>
        </p:spPr>
        <p:txBody>
          <a:bodyPr/>
          <a:lstStyle/>
          <a:p>
            <a:endParaRPr lang="fr-FR"/>
          </a:p>
        </p:txBody>
      </p:sp>
      <p:sp>
        <p:nvSpPr>
          <p:cNvPr id="142" name="Text 140"/>
          <p:cNvSpPr/>
          <p:nvPr/>
        </p:nvSpPr>
        <p:spPr>
          <a:xfrm>
            <a:off x="8596884" y="3584448"/>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43" name="Shape 141"/>
          <p:cNvSpPr/>
          <p:nvPr/>
        </p:nvSpPr>
        <p:spPr>
          <a:xfrm>
            <a:off x="9424416" y="3557016"/>
            <a:ext cx="275844" cy="315468"/>
          </a:xfrm>
          <a:prstGeom prst="rect">
            <a:avLst/>
          </a:prstGeom>
          <a:solidFill>
            <a:srgbClr val="F0F3F5"/>
          </a:solidFill>
          <a:ln w="5080">
            <a:solidFill>
              <a:srgbClr val="F0F3F5"/>
            </a:solidFill>
            <a:prstDash val="solid"/>
          </a:ln>
        </p:spPr>
        <p:txBody>
          <a:bodyPr/>
          <a:lstStyle/>
          <a:p>
            <a:endParaRPr lang="fr-FR"/>
          </a:p>
        </p:txBody>
      </p:sp>
      <p:sp>
        <p:nvSpPr>
          <p:cNvPr id="144" name="Shape 142"/>
          <p:cNvSpPr/>
          <p:nvPr/>
        </p:nvSpPr>
        <p:spPr>
          <a:xfrm>
            <a:off x="9700260" y="3557016"/>
            <a:ext cx="275844" cy="315468"/>
          </a:xfrm>
          <a:prstGeom prst="rect">
            <a:avLst/>
          </a:prstGeom>
          <a:solidFill>
            <a:srgbClr val="F0F3F5"/>
          </a:solidFill>
          <a:ln w="5080">
            <a:solidFill>
              <a:srgbClr val="F0F3F5"/>
            </a:solidFill>
            <a:prstDash val="solid"/>
          </a:ln>
        </p:spPr>
        <p:txBody>
          <a:bodyPr/>
          <a:lstStyle/>
          <a:p>
            <a:endParaRPr lang="fr-FR"/>
          </a:p>
        </p:txBody>
      </p:sp>
      <p:sp>
        <p:nvSpPr>
          <p:cNvPr id="145" name="Shape 143"/>
          <p:cNvSpPr/>
          <p:nvPr/>
        </p:nvSpPr>
        <p:spPr>
          <a:xfrm>
            <a:off x="9976104" y="3557016"/>
            <a:ext cx="275844" cy="315468"/>
          </a:xfrm>
          <a:prstGeom prst="rect">
            <a:avLst/>
          </a:prstGeom>
          <a:solidFill>
            <a:srgbClr val="F0F3F5"/>
          </a:solidFill>
          <a:ln w="5080">
            <a:solidFill>
              <a:srgbClr val="F0F3F5"/>
            </a:solidFill>
            <a:prstDash val="solid"/>
          </a:ln>
        </p:spPr>
        <p:txBody>
          <a:bodyPr/>
          <a:lstStyle/>
          <a:p>
            <a:endParaRPr lang="fr-FR"/>
          </a:p>
        </p:txBody>
      </p:sp>
      <p:sp>
        <p:nvSpPr>
          <p:cNvPr id="146" name="Shape 144"/>
          <p:cNvSpPr/>
          <p:nvPr/>
        </p:nvSpPr>
        <p:spPr>
          <a:xfrm>
            <a:off x="10251948" y="3557016"/>
            <a:ext cx="275844" cy="315468"/>
          </a:xfrm>
          <a:prstGeom prst="rect">
            <a:avLst/>
          </a:prstGeom>
          <a:solidFill>
            <a:srgbClr val="F0F3F5"/>
          </a:solidFill>
          <a:ln w="5080">
            <a:solidFill>
              <a:srgbClr val="F0F3F5"/>
            </a:solidFill>
            <a:prstDash val="solid"/>
          </a:ln>
        </p:spPr>
        <p:txBody>
          <a:bodyPr/>
          <a:lstStyle/>
          <a:p>
            <a:endParaRPr lang="fr-FR"/>
          </a:p>
        </p:txBody>
      </p:sp>
      <p:sp>
        <p:nvSpPr>
          <p:cNvPr id="147" name="Shape 145"/>
          <p:cNvSpPr/>
          <p:nvPr/>
        </p:nvSpPr>
        <p:spPr>
          <a:xfrm>
            <a:off x="548640" y="3872484"/>
            <a:ext cx="11082528" cy="315468"/>
          </a:xfrm>
          <a:prstGeom prst="rect">
            <a:avLst/>
          </a:prstGeom>
          <a:solidFill>
            <a:srgbClr val="F0F3F5"/>
          </a:solidFill>
          <a:ln w="5080">
            <a:solidFill>
              <a:srgbClr val="DCE2E6"/>
            </a:solidFill>
            <a:prstDash val="solid"/>
          </a:ln>
        </p:spPr>
        <p:txBody>
          <a:bodyPr/>
          <a:lstStyle/>
          <a:p>
            <a:endParaRPr lang="fr-FR"/>
          </a:p>
        </p:txBody>
      </p:sp>
      <p:sp>
        <p:nvSpPr>
          <p:cNvPr id="148" name="Text 146"/>
          <p:cNvSpPr/>
          <p:nvPr/>
        </p:nvSpPr>
        <p:spPr>
          <a:xfrm>
            <a:off x="630936" y="3895344"/>
            <a:ext cx="3355848" cy="269748"/>
          </a:xfrm>
          <a:prstGeom prst="rect">
            <a:avLst/>
          </a:prstGeom>
          <a:noFill/>
          <a:ln/>
        </p:spPr>
        <p:txBody>
          <a:bodyPr wrap="square" lIns="0" tIns="0" rIns="0" bIns="0" rtlCol="0" anchor="ctr">
            <a:normAutofit/>
          </a:bodyPr>
          <a:lstStyle/>
          <a:p>
            <a:pPr marL="0" indent="0" algn="l">
              <a:buNone/>
            </a:pPr>
            <a:r>
              <a:rPr lang="fr-FR" altLang="en-US" sz="1310" dirty="0">
                <a:solidFill>
                  <a:srgbClr val="203847"/>
                </a:solidFill>
                <a:latin typeface="Arial" pitchFamily="34" charset="0"/>
                <a:ea typeface="Arial" pitchFamily="34" charset="-122"/>
                <a:cs typeface="Arial" pitchFamily="34" charset="-120"/>
              </a:rPr>
              <a:t>Tests d’intégration</a:t>
            </a:r>
            <a:endParaRPr lang="fr-FR" sz="1310" dirty="0"/>
          </a:p>
        </p:txBody>
      </p:sp>
      <p:sp>
        <p:nvSpPr>
          <p:cNvPr id="149" name="Text 147"/>
          <p:cNvSpPr/>
          <p:nvPr/>
        </p:nvSpPr>
        <p:spPr>
          <a:xfrm>
            <a:off x="4050792" y="3895344"/>
            <a:ext cx="932688" cy="269748"/>
          </a:xfrm>
          <a:prstGeom prst="rect">
            <a:avLst/>
          </a:prstGeom>
          <a:noFill/>
          <a:ln/>
        </p:spPr>
        <p:txBody>
          <a:bodyPr wrap="square" lIns="0" tIns="0" rIns="0" bIns="0" rtlCol="0" anchor="ctr">
            <a:normAutofit/>
          </a:bodyPr>
          <a:lstStyle/>
          <a:p>
            <a:pPr marL="0" indent="0" algn="ctr">
              <a:buNone/>
            </a:pPr>
            <a:r>
              <a:rPr lang="fr-FR" altLang="en-US" sz="1130" dirty="0">
                <a:solidFill>
                  <a:srgbClr val="203847"/>
                </a:solidFill>
                <a:latin typeface="Arial" pitchFamily="34" charset="0"/>
                <a:ea typeface="Arial" pitchFamily="34" charset="-122"/>
                <a:cs typeface="Arial" pitchFamily="34" charset="-120"/>
              </a:rPr>
              <a:t>S15-S16</a:t>
            </a:r>
            <a:endParaRPr lang="fr-FR" sz="1130" dirty="0"/>
          </a:p>
        </p:txBody>
      </p:sp>
      <p:sp>
        <p:nvSpPr>
          <p:cNvPr id="150" name="Shape 148"/>
          <p:cNvSpPr/>
          <p:nvPr/>
        </p:nvSpPr>
        <p:spPr>
          <a:xfrm>
            <a:off x="5010912"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51" name="Shape 149"/>
          <p:cNvSpPr/>
          <p:nvPr/>
        </p:nvSpPr>
        <p:spPr>
          <a:xfrm>
            <a:off x="5286756"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52" name="Shape 150"/>
          <p:cNvSpPr/>
          <p:nvPr/>
        </p:nvSpPr>
        <p:spPr>
          <a:xfrm>
            <a:off x="5562600"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53" name="Shape 151"/>
          <p:cNvSpPr/>
          <p:nvPr/>
        </p:nvSpPr>
        <p:spPr>
          <a:xfrm>
            <a:off x="5838444"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54" name="Shape 152"/>
          <p:cNvSpPr/>
          <p:nvPr/>
        </p:nvSpPr>
        <p:spPr>
          <a:xfrm>
            <a:off x="7217664"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55" name="Shape 153"/>
          <p:cNvSpPr/>
          <p:nvPr/>
        </p:nvSpPr>
        <p:spPr>
          <a:xfrm>
            <a:off x="7493508"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56" name="Shape 154"/>
          <p:cNvSpPr/>
          <p:nvPr/>
        </p:nvSpPr>
        <p:spPr>
          <a:xfrm>
            <a:off x="7769352"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57" name="Shape 155"/>
          <p:cNvSpPr/>
          <p:nvPr/>
        </p:nvSpPr>
        <p:spPr>
          <a:xfrm>
            <a:off x="8045196"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58" name="Shape 156"/>
          <p:cNvSpPr/>
          <p:nvPr/>
        </p:nvSpPr>
        <p:spPr>
          <a:xfrm>
            <a:off x="8872728" y="3872484"/>
            <a:ext cx="275844" cy="315468"/>
          </a:xfrm>
          <a:prstGeom prst="rect">
            <a:avLst/>
          </a:prstGeom>
          <a:solidFill>
            <a:srgbClr val="C52F3C"/>
          </a:solidFill>
          <a:ln w="5080">
            <a:solidFill>
              <a:srgbClr val="FFFFFF"/>
            </a:solidFill>
            <a:prstDash val="solid"/>
          </a:ln>
        </p:spPr>
        <p:txBody>
          <a:bodyPr/>
          <a:lstStyle/>
          <a:p>
            <a:endParaRPr lang="fr-FR"/>
          </a:p>
        </p:txBody>
      </p:sp>
      <p:sp>
        <p:nvSpPr>
          <p:cNvPr id="159" name="Text 157"/>
          <p:cNvSpPr/>
          <p:nvPr/>
        </p:nvSpPr>
        <p:spPr>
          <a:xfrm>
            <a:off x="8872728" y="3899916"/>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60" name="Shape 158"/>
          <p:cNvSpPr/>
          <p:nvPr/>
        </p:nvSpPr>
        <p:spPr>
          <a:xfrm>
            <a:off x="9148572" y="3872484"/>
            <a:ext cx="275844" cy="315468"/>
          </a:xfrm>
          <a:prstGeom prst="rect">
            <a:avLst/>
          </a:prstGeom>
          <a:solidFill>
            <a:srgbClr val="C52F3C"/>
          </a:solidFill>
          <a:ln w="5080">
            <a:solidFill>
              <a:srgbClr val="FFFFFF"/>
            </a:solidFill>
            <a:prstDash val="solid"/>
          </a:ln>
        </p:spPr>
        <p:txBody>
          <a:bodyPr/>
          <a:lstStyle/>
          <a:p>
            <a:endParaRPr lang="fr-FR"/>
          </a:p>
        </p:txBody>
      </p:sp>
      <p:sp>
        <p:nvSpPr>
          <p:cNvPr id="161" name="Text 159"/>
          <p:cNvSpPr/>
          <p:nvPr/>
        </p:nvSpPr>
        <p:spPr>
          <a:xfrm>
            <a:off x="9148572" y="3899916"/>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62" name="Shape 160"/>
          <p:cNvSpPr/>
          <p:nvPr/>
        </p:nvSpPr>
        <p:spPr>
          <a:xfrm>
            <a:off x="9424416"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63" name="Shape 161"/>
          <p:cNvSpPr/>
          <p:nvPr/>
        </p:nvSpPr>
        <p:spPr>
          <a:xfrm>
            <a:off x="9700260"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64" name="Shape 162"/>
          <p:cNvSpPr/>
          <p:nvPr/>
        </p:nvSpPr>
        <p:spPr>
          <a:xfrm>
            <a:off x="9976104"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65" name="Shape 163"/>
          <p:cNvSpPr/>
          <p:nvPr/>
        </p:nvSpPr>
        <p:spPr>
          <a:xfrm>
            <a:off x="10251948" y="3872484"/>
            <a:ext cx="275844" cy="315468"/>
          </a:xfrm>
          <a:prstGeom prst="rect">
            <a:avLst/>
          </a:prstGeom>
          <a:solidFill>
            <a:srgbClr val="F0F3F5"/>
          </a:solidFill>
          <a:ln w="5080">
            <a:solidFill>
              <a:srgbClr val="F0F3F5"/>
            </a:solidFill>
            <a:prstDash val="solid"/>
          </a:ln>
        </p:spPr>
        <p:txBody>
          <a:bodyPr/>
          <a:lstStyle/>
          <a:p>
            <a:endParaRPr lang="fr-FR"/>
          </a:p>
        </p:txBody>
      </p:sp>
      <p:sp>
        <p:nvSpPr>
          <p:cNvPr id="166" name="Shape 164"/>
          <p:cNvSpPr/>
          <p:nvPr/>
        </p:nvSpPr>
        <p:spPr>
          <a:xfrm>
            <a:off x="548640" y="4187952"/>
            <a:ext cx="11082528" cy="315468"/>
          </a:xfrm>
          <a:prstGeom prst="rect">
            <a:avLst/>
          </a:prstGeom>
          <a:solidFill>
            <a:srgbClr val="FFFFFF"/>
          </a:solidFill>
          <a:ln w="5080">
            <a:solidFill>
              <a:srgbClr val="DCE2E6"/>
            </a:solidFill>
            <a:prstDash val="solid"/>
          </a:ln>
        </p:spPr>
        <p:txBody>
          <a:bodyPr/>
          <a:lstStyle/>
          <a:p>
            <a:endParaRPr lang="fr-FR"/>
          </a:p>
        </p:txBody>
      </p:sp>
      <p:sp>
        <p:nvSpPr>
          <p:cNvPr id="167" name="Text 165"/>
          <p:cNvSpPr/>
          <p:nvPr/>
        </p:nvSpPr>
        <p:spPr>
          <a:xfrm>
            <a:off x="630936" y="4210812"/>
            <a:ext cx="3355848" cy="269748"/>
          </a:xfrm>
          <a:prstGeom prst="rect">
            <a:avLst/>
          </a:prstGeom>
          <a:noFill/>
          <a:ln/>
        </p:spPr>
        <p:txBody>
          <a:bodyPr wrap="square" lIns="0" tIns="0" rIns="0" bIns="0" rtlCol="0" anchor="ctr">
            <a:normAutofit/>
          </a:bodyPr>
          <a:lstStyle/>
          <a:p>
            <a:pPr marL="0" indent="0" algn="l">
              <a:buNone/>
            </a:pPr>
            <a:r>
              <a:rPr lang="fr-FR" altLang="en-US" sz="1310" dirty="0">
                <a:solidFill>
                  <a:srgbClr val="203847"/>
                </a:solidFill>
                <a:latin typeface="Arial" pitchFamily="34" charset="0"/>
                <a:ea typeface="Arial" pitchFamily="34" charset="-122"/>
                <a:cs typeface="Arial" pitchFamily="34" charset="-120"/>
              </a:rPr>
              <a:t>Tests système et corrections</a:t>
            </a:r>
            <a:endParaRPr lang="fr-FR" sz="1310" dirty="0"/>
          </a:p>
        </p:txBody>
      </p:sp>
      <p:sp>
        <p:nvSpPr>
          <p:cNvPr id="168" name="Text 166"/>
          <p:cNvSpPr/>
          <p:nvPr/>
        </p:nvSpPr>
        <p:spPr>
          <a:xfrm>
            <a:off x="4050792" y="4210812"/>
            <a:ext cx="932688" cy="269748"/>
          </a:xfrm>
          <a:prstGeom prst="rect">
            <a:avLst/>
          </a:prstGeom>
          <a:noFill/>
          <a:ln/>
        </p:spPr>
        <p:txBody>
          <a:bodyPr wrap="square" lIns="0" tIns="0" rIns="0" bIns="0" rtlCol="0" anchor="ctr">
            <a:normAutofit/>
          </a:bodyPr>
          <a:lstStyle/>
          <a:p>
            <a:pPr marL="0" indent="0" algn="ctr">
              <a:buNone/>
            </a:pPr>
            <a:r>
              <a:rPr lang="fr-FR" altLang="en-US" sz="1130" dirty="0">
                <a:solidFill>
                  <a:srgbClr val="203847"/>
                </a:solidFill>
                <a:latin typeface="Arial" pitchFamily="34" charset="0"/>
                <a:ea typeface="Arial" pitchFamily="34" charset="-122"/>
                <a:cs typeface="Arial" pitchFamily="34" charset="-120"/>
              </a:rPr>
              <a:t>S17-S20</a:t>
            </a:r>
            <a:endParaRPr lang="fr-FR" sz="1130" dirty="0"/>
          </a:p>
        </p:txBody>
      </p:sp>
      <p:sp>
        <p:nvSpPr>
          <p:cNvPr id="169" name="Shape 167"/>
          <p:cNvSpPr/>
          <p:nvPr/>
        </p:nvSpPr>
        <p:spPr>
          <a:xfrm>
            <a:off x="5010912" y="4187952"/>
            <a:ext cx="275844" cy="315468"/>
          </a:xfrm>
          <a:prstGeom prst="rect">
            <a:avLst/>
          </a:prstGeom>
          <a:solidFill>
            <a:srgbClr val="F0F3F5"/>
          </a:solidFill>
          <a:ln w="5080">
            <a:solidFill>
              <a:srgbClr val="F0F3F5"/>
            </a:solidFill>
            <a:prstDash val="solid"/>
          </a:ln>
        </p:spPr>
        <p:txBody>
          <a:bodyPr/>
          <a:lstStyle/>
          <a:p>
            <a:endParaRPr lang="fr-FR"/>
          </a:p>
        </p:txBody>
      </p:sp>
      <p:sp>
        <p:nvSpPr>
          <p:cNvPr id="170" name="Shape 168"/>
          <p:cNvSpPr/>
          <p:nvPr/>
        </p:nvSpPr>
        <p:spPr>
          <a:xfrm>
            <a:off x="5286756" y="4187952"/>
            <a:ext cx="275844" cy="315468"/>
          </a:xfrm>
          <a:prstGeom prst="rect">
            <a:avLst/>
          </a:prstGeom>
          <a:solidFill>
            <a:srgbClr val="F0F3F5"/>
          </a:solidFill>
          <a:ln w="5080">
            <a:solidFill>
              <a:srgbClr val="F0F3F5"/>
            </a:solidFill>
            <a:prstDash val="solid"/>
          </a:ln>
        </p:spPr>
        <p:txBody>
          <a:bodyPr/>
          <a:lstStyle/>
          <a:p>
            <a:endParaRPr lang="fr-FR"/>
          </a:p>
        </p:txBody>
      </p:sp>
      <p:sp>
        <p:nvSpPr>
          <p:cNvPr id="171" name="Shape 169"/>
          <p:cNvSpPr/>
          <p:nvPr/>
        </p:nvSpPr>
        <p:spPr>
          <a:xfrm>
            <a:off x="5562600" y="4187952"/>
            <a:ext cx="275844" cy="315468"/>
          </a:xfrm>
          <a:prstGeom prst="rect">
            <a:avLst/>
          </a:prstGeom>
          <a:solidFill>
            <a:srgbClr val="F0F3F5"/>
          </a:solidFill>
          <a:ln w="5080">
            <a:solidFill>
              <a:srgbClr val="F0F3F5"/>
            </a:solidFill>
            <a:prstDash val="solid"/>
          </a:ln>
        </p:spPr>
        <p:txBody>
          <a:bodyPr/>
          <a:lstStyle/>
          <a:p>
            <a:endParaRPr lang="fr-FR"/>
          </a:p>
        </p:txBody>
      </p:sp>
      <p:sp>
        <p:nvSpPr>
          <p:cNvPr id="172" name="Shape 170"/>
          <p:cNvSpPr/>
          <p:nvPr/>
        </p:nvSpPr>
        <p:spPr>
          <a:xfrm>
            <a:off x="5838444" y="4187952"/>
            <a:ext cx="275844" cy="315468"/>
          </a:xfrm>
          <a:prstGeom prst="rect">
            <a:avLst/>
          </a:prstGeom>
          <a:solidFill>
            <a:srgbClr val="F0F3F5"/>
          </a:solidFill>
          <a:ln w="5080">
            <a:solidFill>
              <a:srgbClr val="F0F3F5"/>
            </a:solidFill>
            <a:prstDash val="solid"/>
          </a:ln>
        </p:spPr>
        <p:txBody>
          <a:bodyPr/>
          <a:lstStyle/>
          <a:p>
            <a:endParaRPr lang="fr-FR"/>
          </a:p>
        </p:txBody>
      </p:sp>
      <p:sp>
        <p:nvSpPr>
          <p:cNvPr id="173" name="Shape 171"/>
          <p:cNvSpPr/>
          <p:nvPr/>
        </p:nvSpPr>
        <p:spPr>
          <a:xfrm>
            <a:off x="7217664" y="4187952"/>
            <a:ext cx="275844" cy="315468"/>
          </a:xfrm>
          <a:prstGeom prst="rect">
            <a:avLst/>
          </a:prstGeom>
          <a:solidFill>
            <a:srgbClr val="F0F3F5"/>
          </a:solidFill>
          <a:ln w="5080">
            <a:solidFill>
              <a:srgbClr val="F0F3F5"/>
            </a:solidFill>
            <a:prstDash val="solid"/>
          </a:ln>
        </p:spPr>
        <p:txBody>
          <a:bodyPr/>
          <a:lstStyle/>
          <a:p>
            <a:endParaRPr lang="fr-FR"/>
          </a:p>
        </p:txBody>
      </p:sp>
      <p:sp>
        <p:nvSpPr>
          <p:cNvPr id="174" name="Shape 172"/>
          <p:cNvSpPr/>
          <p:nvPr/>
        </p:nvSpPr>
        <p:spPr>
          <a:xfrm>
            <a:off x="7493508" y="4187952"/>
            <a:ext cx="275844" cy="315468"/>
          </a:xfrm>
          <a:prstGeom prst="rect">
            <a:avLst/>
          </a:prstGeom>
          <a:solidFill>
            <a:srgbClr val="F0F3F5"/>
          </a:solidFill>
          <a:ln w="5080">
            <a:solidFill>
              <a:srgbClr val="F0F3F5"/>
            </a:solidFill>
            <a:prstDash val="solid"/>
          </a:ln>
        </p:spPr>
        <p:txBody>
          <a:bodyPr/>
          <a:lstStyle/>
          <a:p>
            <a:endParaRPr lang="fr-FR"/>
          </a:p>
        </p:txBody>
      </p:sp>
      <p:sp>
        <p:nvSpPr>
          <p:cNvPr id="175" name="Shape 173"/>
          <p:cNvSpPr/>
          <p:nvPr/>
        </p:nvSpPr>
        <p:spPr>
          <a:xfrm>
            <a:off x="7769352" y="4187952"/>
            <a:ext cx="275844" cy="315468"/>
          </a:xfrm>
          <a:prstGeom prst="rect">
            <a:avLst/>
          </a:prstGeom>
          <a:solidFill>
            <a:srgbClr val="F0F3F5"/>
          </a:solidFill>
          <a:ln w="5080">
            <a:solidFill>
              <a:srgbClr val="F0F3F5"/>
            </a:solidFill>
            <a:prstDash val="solid"/>
          </a:ln>
        </p:spPr>
        <p:txBody>
          <a:bodyPr/>
          <a:lstStyle/>
          <a:p>
            <a:endParaRPr lang="fr-FR"/>
          </a:p>
        </p:txBody>
      </p:sp>
      <p:sp>
        <p:nvSpPr>
          <p:cNvPr id="176" name="Shape 174"/>
          <p:cNvSpPr/>
          <p:nvPr/>
        </p:nvSpPr>
        <p:spPr>
          <a:xfrm>
            <a:off x="8045196" y="4187952"/>
            <a:ext cx="275844" cy="315468"/>
          </a:xfrm>
          <a:prstGeom prst="rect">
            <a:avLst/>
          </a:prstGeom>
          <a:solidFill>
            <a:srgbClr val="F0F3F5"/>
          </a:solidFill>
          <a:ln w="5080">
            <a:solidFill>
              <a:srgbClr val="F0F3F5"/>
            </a:solidFill>
            <a:prstDash val="solid"/>
          </a:ln>
        </p:spPr>
        <p:txBody>
          <a:bodyPr/>
          <a:lstStyle/>
          <a:p>
            <a:endParaRPr lang="fr-FR"/>
          </a:p>
        </p:txBody>
      </p:sp>
      <p:sp>
        <p:nvSpPr>
          <p:cNvPr id="177" name="Shape 175"/>
          <p:cNvSpPr/>
          <p:nvPr/>
        </p:nvSpPr>
        <p:spPr>
          <a:xfrm>
            <a:off x="9424416" y="4187952"/>
            <a:ext cx="275844" cy="315468"/>
          </a:xfrm>
          <a:prstGeom prst="rect">
            <a:avLst/>
          </a:prstGeom>
          <a:solidFill>
            <a:srgbClr val="C52F3C"/>
          </a:solidFill>
          <a:ln w="5080">
            <a:solidFill>
              <a:srgbClr val="FFFFFF"/>
            </a:solidFill>
            <a:prstDash val="solid"/>
          </a:ln>
        </p:spPr>
        <p:txBody>
          <a:bodyPr/>
          <a:lstStyle/>
          <a:p>
            <a:endParaRPr lang="fr-FR"/>
          </a:p>
        </p:txBody>
      </p:sp>
      <p:sp>
        <p:nvSpPr>
          <p:cNvPr id="178" name="Text 176"/>
          <p:cNvSpPr/>
          <p:nvPr/>
        </p:nvSpPr>
        <p:spPr>
          <a:xfrm>
            <a:off x="9424416" y="4215384"/>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79" name="Shape 177"/>
          <p:cNvSpPr/>
          <p:nvPr/>
        </p:nvSpPr>
        <p:spPr>
          <a:xfrm>
            <a:off x="9700260" y="4187952"/>
            <a:ext cx="275844" cy="315468"/>
          </a:xfrm>
          <a:prstGeom prst="rect">
            <a:avLst/>
          </a:prstGeom>
          <a:solidFill>
            <a:srgbClr val="C52F3C"/>
          </a:solidFill>
          <a:ln w="5080">
            <a:solidFill>
              <a:srgbClr val="FFFFFF"/>
            </a:solidFill>
            <a:prstDash val="solid"/>
          </a:ln>
        </p:spPr>
        <p:txBody>
          <a:bodyPr/>
          <a:lstStyle/>
          <a:p>
            <a:endParaRPr lang="fr-FR"/>
          </a:p>
        </p:txBody>
      </p:sp>
      <p:sp>
        <p:nvSpPr>
          <p:cNvPr id="180" name="Text 178"/>
          <p:cNvSpPr/>
          <p:nvPr/>
        </p:nvSpPr>
        <p:spPr>
          <a:xfrm>
            <a:off x="9700260" y="4215384"/>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81" name="Shape 179"/>
          <p:cNvSpPr/>
          <p:nvPr/>
        </p:nvSpPr>
        <p:spPr>
          <a:xfrm>
            <a:off x="9976104" y="4187952"/>
            <a:ext cx="275844" cy="315468"/>
          </a:xfrm>
          <a:prstGeom prst="rect">
            <a:avLst/>
          </a:prstGeom>
          <a:solidFill>
            <a:srgbClr val="C52F3C"/>
          </a:solidFill>
          <a:ln w="5080">
            <a:solidFill>
              <a:srgbClr val="FFFFFF"/>
            </a:solidFill>
            <a:prstDash val="solid"/>
          </a:ln>
        </p:spPr>
        <p:txBody>
          <a:bodyPr/>
          <a:lstStyle/>
          <a:p>
            <a:endParaRPr lang="fr-FR"/>
          </a:p>
        </p:txBody>
      </p:sp>
      <p:sp>
        <p:nvSpPr>
          <p:cNvPr id="182" name="Text 180"/>
          <p:cNvSpPr/>
          <p:nvPr/>
        </p:nvSpPr>
        <p:spPr>
          <a:xfrm>
            <a:off x="9976104" y="4215384"/>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83" name="Shape 181"/>
          <p:cNvSpPr/>
          <p:nvPr/>
        </p:nvSpPr>
        <p:spPr>
          <a:xfrm>
            <a:off x="10251948" y="4187952"/>
            <a:ext cx="275844" cy="315468"/>
          </a:xfrm>
          <a:prstGeom prst="rect">
            <a:avLst/>
          </a:prstGeom>
          <a:solidFill>
            <a:srgbClr val="C52F3C"/>
          </a:solidFill>
          <a:ln w="5080">
            <a:solidFill>
              <a:srgbClr val="FFFFFF"/>
            </a:solidFill>
            <a:prstDash val="solid"/>
          </a:ln>
        </p:spPr>
        <p:txBody>
          <a:bodyPr/>
          <a:lstStyle/>
          <a:p>
            <a:endParaRPr lang="fr-FR"/>
          </a:p>
        </p:txBody>
      </p:sp>
      <p:sp>
        <p:nvSpPr>
          <p:cNvPr id="184" name="Text 182"/>
          <p:cNvSpPr/>
          <p:nvPr/>
        </p:nvSpPr>
        <p:spPr>
          <a:xfrm>
            <a:off x="10251948" y="4215384"/>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85" name="Shape 183"/>
          <p:cNvSpPr/>
          <p:nvPr/>
        </p:nvSpPr>
        <p:spPr>
          <a:xfrm>
            <a:off x="548640" y="4503420"/>
            <a:ext cx="11082528" cy="315468"/>
          </a:xfrm>
          <a:prstGeom prst="rect">
            <a:avLst/>
          </a:prstGeom>
          <a:solidFill>
            <a:srgbClr val="F0F3F5"/>
          </a:solidFill>
          <a:ln w="5080">
            <a:solidFill>
              <a:srgbClr val="DCE2E6"/>
            </a:solidFill>
            <a:prstDash val="solid"/>
          </a:ln>
        </p:spPr>
        <p:txBody>
          <a:bodyPr/>
          <a:lstStyle/>
          <a:p>
            <a:endParaRPr lang="fr-FR"/>
          </a:p>
        </p:txBody>
      </p:sp>
      <p:sp>
        <p:nvSpPr>
          <p:cNvPr id="186" name="Text 184"/>
          <p:cNvSpPr/>
          <p:nvPr/>
        </p:nvSpPr>
        <p:spPr>
          <a:xfrm>
            <a:off x="630936" y="4526280"/>
            <a:ext cx="3355848" cy="269748"/>
          </a:xfrm>
          <a:prstGeom prst="rect">
            <a:avLst/>
          </a:prstGeom>
          <a:noFill/>
          <a:ln/>
        </p:spPr>
        <p:txBody>
          <a:bodyPr wrap="square" lIns="0" tIns="0" rIns="0" bIns="0" rtlCol="0" anchor="ctr">
            <a:normAutofit/>
          </a:bodyPr>
          <a:lstStyle/>
          <a:p>
            <a:pPr marL="0" indent="0" algn="l">
              <a:buNone/>
            </a:pPr>
            <a:r>
              <a:rPr lang="fr-FR" altLang="en-US" sz="1310" dirty="0">
                <a:solidFill>
                  <a:srgbClr val="203847"/>
                </a:solidFill>
                <a:latin typeface="Arial" pitchFamily="34" charset="0"/>
                <a:ea typeface="Arial" pitchFamily="34" charset="-122"/>
                <a:cs typeface="Arial" pitchFamily="34" charset="-120"/>
              </a:rPr>
              <a:t>Recette client</a:t>
            </a:r>
            <a:endParaRPr lang="fr-FR" sz="1310" dirty="0"/>
          </a:p>
        </p:txBody>
      </p:sp>
      <p:sp>
        <p:nvSpPr>
          <p:cNvPr id="187" name="Text 185"/>
          <p:cNvSpPr/>
          <p:nvPr/>
        </p:nvSpPr>
        <p:spPr>
          <a:xfrm>
            <a:off x="4050792" y="4526280"/>
            <a:ext cx="932688" cy="269748"/>
          </a:xfrm>
          <a:prstGeom prst="rect">
            <a:avLst/>
          </a:prstGeom>
          <a:noFill/>
          <a:ln/>
        </p:spPr>
        <p:txBody>
          <a:bodyPr wrap="square" lIns="0" tIns="0" rIns="0" bIns="0" rtlCol="0" anchor="ctr">
            <a:normAutofit/>
          </a:bodyPr>
          <a:lstStyle/>
          <a:p>
            <a:pPr marL="0" indent="0" algn="ctr">
              <a:buNone/>
            </a:pPr>
            <a:r>
              <a:rPr lang="fr-FR" altLang="en-US" sz="1130" dirty="0">
                <a:solidFill>
                  <a:srgbClr val="203847"/>
                </a:solidFill>
                <a:latin typeface="Arial" pitchFamily="34" charset="0"/>
                <a:ea typeface="Arial" pitchFamily="34" charset="-122"/>
                <a:cs typeface="Arial" pitchFamily="34" charset="-120"/>
              </a:rPr>
              <a:t>S21-S22</a:t>
            </a:r>
            <a:endParaRPr lang="fr-FR" sz="1130" dirty="0"/>
          </a:p>
        </p:txBody>
      </p:sp>
      <p:sp>
        <p:nvSpPr>
          <p:cNvPr id="188" name="Shape 186"/>
          <p:cNvSpPr/>
          <p:nvPr/>
        </p:nvSpPr>
        <p:spPr>
          <a:xfrm>
            <a:off x="5010912"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89" name="Shape 187"/>
          <p:cNvSpPr/>
          <p:nvPr/>
        </p:nvSpPr>
        <p:spPr>
          <a:xfrm>
            <a:off x="5286756"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90" name="Shape 188"/>
          <p:cNvSpPr/>
          <p:nvPr/>
        </p:nvSpPr>
        <p:spPr>
          <a:xfrm>
            <a:off x="5562600"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91" name="Shape 189"/>
          <p:cNvSpPr/>
          <p:nvPr/>
        </p:nvSpPr>
        <p:spPr>
          <a:xfrm>
            <a:off x="5838444"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92" name="Shape 190"/>
          <p:cNvSpPr/>
          <p:nvPr/>
        </p:nvSpPr>
        <p:spPr>
          <a:xfrm>
            <a:off x="7217664"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93" name="Shape 191"/>
          <p:cNvSpPr/>
          <p:nvPr/>
        </p:nvSpPr>
        <p:spPr>
          <a:xfrm>
            <a:off x="7493508"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94" name="Shape 192"/>
          <p:cNvSpPr/>
          <p:nvPr/>
        </p:nvSpPr>
        <p:spPr>
          <a:xfrm>
            <a:off x="7769352"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95" name="Shape 193"/>
          <p:cNvSpPr/>
          <p:nvPr/>
        </p:nvSpPr>
        <p:spPr>
          <a:xfrm>
            <a:off x="8045196"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96" name="Shape 194"/>
          <p:cNvSpPr/>
          <p:nvPr/>
        </p:nvSpPr>
        <p:spPr>
          <a:xfrm>
            <a:off x="9424416"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97" name="Shape 195"/>
          <p:cNvSpPr/>
          <p:nvPr/>
        </p:nvSpPr>
        <p:spPr>
          <a:xfrm>
            <a:off x="9700260"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98" name="Shape 196"/>
          <p:cNvSpPr/>
          <p:nvPr/>
        </p:nvSpPr>
        <p:spPr>
          <a:xfrm>
            <a:off x="9976104"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199" name="Shape 197"/>
          <p:cNvSpPr/>
          <p:nvPr/>
        </p:nvSpPr>
        <p:spPr>
          <a:xfrm>
            <a:off x="10251948" y="4503420"/>
            <a:ext cx="275844" cy="315468"/>
          </a:xfrm>
          <a:prstGeom prst="rect">
            <a:avLst/>
          </a:prstGeom>
          <a:solidFill>
            <a:srgbClr val="F0F3F5"/>
          </a:solidFill>
          <a:ln w="5080">
            <a:solidFill>
              <a:srgbClr val="F0F3F5"/>
            </a:solidFill>
            <a:prstDash val="solid"/>
          </a:ln>
        </p:spPr>
        <p:txBody>
          <a:bodyPr/>
          <a:lstStyle/>
          <a:p>
            <a:endParaRPr lang="fr-FR"/>
          </a:p>
        </p:txBody>
      </p:sp>
      <p:sp>
        <p:nvSpPr>
          <p:cNvPr id="200" name="Shape 198"/>
          <p:cNvSpPr/>
          <p:nvPr/>
        </p:nvSpPr>
        <p:spPr>
          <a:xfrm>
            <a:off x="10527792" y="4503420"/>
            <a:ext cx="275844" cy="315468"/>
          </a:xfrm>
          <a:prstGeom prst="rect">
            <a:avLst/>
          </a:prstGeom>
          <a:solidFill>
            <a:srgbClr val="C52F3C"/>
          </a:solidFill>
          <a:ln w="5080">
            <a:solidFill>
              <a:srgbClr val="FFFFFF"/>
            </a:solidFill>
            <a:prstDash val="solid"/>
          </a:ln>
        </p:spPr>
        <p:txBody>
          <a:bodyPr/>
          <a:lstStyle/>
          <a:p>
            <a:endParaRPr lang="fr-FR"/>
          </a:p>
        </p:txBody>
      </p:sp>
      <p:sp>
        <p:nvSpPr>
          <p:cNvPr id="201" name="Text 199"/>
          <p:cNvSpPr/>
          <p:nvPr/>
        </p:nvSpPr>
        <p:spPr>
          <a:xfrm>
            <a:off x="10527792" y="4530852"/>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202" name="Shape 200"/>
          <p:cNvSpPr/>
          <p:nvPr/>
        </p:nvSpPr>
        <p:spPr>
          <a:xfrm>
            <a:off x="10803636" y="4503420"/>
            <a:ext cx="275844" cy="315468"/>
          </a:xfrm>
          <a:prstGeom prst="rect">
            <a:avLst/>
          </a:prstGeom>
          <a:solidFill>
            <a:srgbClr val="C52F3C"/>
          </a:solidFill>
          <a:ln w="5080">
            <a:solidFill>
              <a:srgbClr val="FFFFFF"/>
            </a:solidFill>
            <a:prstDash val="solid"/>
          </a:ln>
        </p:spPr>
        <p:txBody>
          <a:bodyPr/>
          <a:lstStyle/>
          <a:p>
            <a:endParaRPr lang="fr-FR"/>
          </a:p>
        </p:txBody>
      </p:sp>
      <p:sp>
        <p:nvSpPr>
          <p:cNvPr id="203" name="Text 201"/>
          <p:cNvSpPr/>
          <p:nvPr/>
        </p:nvSpPr>
        <p:spPr>
          <a:xfrm>
            <a:off x="10803636" y="4530852"/>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204" name="Shape 202"/>
          <p:cNvSpPr/>
          <p:nvPr/>
        </p:nvSpPr>
        <p:spPr>
          <a:xfrm>
            <a:off x="548640" y="4818888"/>
            <a:ext cx="11082528" cy="315468"/>
          </a:xfrm>
          <a:prstGeom prst="rect">
            <a:avLst/>
          </a:prstGeom>
          <a:solidFill>
            <a:srgbClr val="FFFFFF"/>
          </a:solidFill>
          <a:ln w="5080">
            <a:solidFill>
              <a:srgbClr val="DCE2E6"/>
            </a:solidFill>
            <a:prstDash val="solid"/>
          </a:ln>
        </p:spPr>
        <p:txBody>
          <a:bodyPr/>
          <a:lstStyle/>
          <a:p>
            <a:endParaRPr lang="fr-FR"/>
          </a:p>
        </p:txBody>
      </p:sp>
      <p:sp>
        <p:nvSpPr>
          <p:cNvPr id="205" name="Text 203"/>
          <p:cNvSpPr/>
          <p:nvPr/>
        </p:nvSpPr>
        <p:spPr>
          <a:xfrm>
            <a:off x="630936" y="4841748"/>
            <a:ext cx="3355848" cy="269748"/>
          </a:xfrm>
          <a:prstGeom prst="rect">
            <a:avLst/>
          </a:prstGeom>
          <a:noFill/>
          <a:ln/>
        </p:spPr>
        <p:txBody>
          <a:bodyPr wrap="square" lIns="0" tIns="0" rIns="0" bIns="0" rtlCol="0" anchor="ctr">
            <a:normAutofit/>
          </a:bodyPr>
          <a:lstStyle/>
          <a:p>
            <a:pPr marL="0" indent="0" algn="l">
              <a:buNone/>
            </a:pPr>
            <a:r>
              <a:rPr lang="fr-FR" altLang="en-US" sz="1310" dirty="0">
                <a:solidFill>
                  <a:srgbClr val="203847"/>
                </a:solidFill>
                <a:latin typeface="Arial" pitchFamily="34" charset="0"/>
                <a:ea typeface="Arial" pitchFamily="34" charset="-122"/>
                <a:cs typeface="Arial" pitchFamily="34" charset="-120"/>
              </a:rPr>
              <a:t>Mise en service et support initial</a:t>
            </a:r>
            <a:endParaRPr lang="fr-FR" sz="1310" dirty="0"/>
          </a:p>
        </p:txBody>
      </p:sp>
      <p:sp>
        <p:nvSpPr>
          <p:cNvPr id="206" name="Text 204"/>
          <p:cNvSpPr/>
          <p:nvPr/>
        </p:nvSpPr>
        <p:spPr>
          <a:xfrm>
            <a:off x="4050792" y="4841748"/>
            <a:ext cx="932688" cy="269748"/>
          </a:xfrm>
          <a:prstGeom prst="rect">
            <a:avLst/>
          </a:prstGeom>
          <a:noFill/>
          <a:ln/>
        </p:spPr>
        <p:txBody>
          <a:bodyPr wrap="square" lIns="0" tIns="0" rIns="0" bIns="0" rtlCol="0" anchor="ctr">
            <a:normAutofit/>
          </a:bodyPr>
          <a:lstStyle/>
          <a:p>
            <a:pPr marL="0" indent="0" algn="ctr">
              <a:buNone/>
            </a:pPr>
            <a:r>
              <a:rPr lang="fr-FR" altLang="en-US" sz="1130" dirty="0">
                <a:solidFill>
                  <a:srgbClr val="203847"/>
                </a:solidFill>
                <a:latin typeface="Arial" pitchFamily="34" charset="0"/>
                <a:ea typeface="Arial" pitchFamily="34" charset="-122"/>
                <a:cs typeface="Arial" pitchFamily="34" charset="-120"/>
              </a:rPr>
              <a:t>S23-S24</a:t>
            </a:r>
            <a:endParaRPr lang="fr-FR" sz="1130" dirty="0"/>
          </a:p>
        </p:txBody>
      </p:sp>
      <p:sp>
        <p:nvSpPr>
          <p:cNvPr id="207" name="Shape 205"/>
          <p:cNvSpPr/>
          <p:nvPr/>
        </p:nvSpPr>
        <p:spPr>
          <a:xfrm>
            <a:off x="5010912"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08" name="Shape 206"/>
          <p:cNvSpPr/>
          <p:nvPr/>
        </p:nvSpPr>
        <p:spPr>
          <a:xfrm>
            <a:off x="5286756"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09" name="Shape 207"/>
          <p:cNvSpPr/>
          <p:nvPr/>
        </p:nvSpPr>
        <p:spPr>
          <a:xfrm>
            <a:off x="5562600"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10" name="Shape 208"/>
          <p:cNvSpPr/>
          <p:nvPr/>
        </p:nvSpPr>
        <p:spPr>
          <a:xfrm>
            <a:off x="5838444"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11" name="Shape 209"/>
          <p:cNvSpPr/>
          <p:nvPr/>
        </p:nvSpPr>
        <p:spPr>
          <a:xfrm>
            <a:off x="7217664"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12" name="Shape 210"/>
          <p:cNvSpPr/>
          <p:nvPr/>
        </p:nvSpPr>
        <p:spPr>
          <a:xfrm>
            <a:off x="7493508"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13" name="Shape 211"/>
          <p:cNvSpPr/>
          <p:nvPr/>
        </p:nvSpPr>
        <p:spPr>
          <a:xfrm>
            <a:off x="7769352"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14" name="Shape 212"/>
          <p:cNvSpPr/>
          <p:nvPr/>
        </p:nvSpPr>
        <p:spPr>
          <a:xfrm>
            <a:off x="8045196"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15" name="Shape 213"/>
          <p:cNvSpPr/>
          <p:nvPr/>
        </p:nvSpPr>
        <p:spPr>
          <a:xfrm>
            <a:off x="9424416"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16" name="Shape 214"/>
          <p:cNvSpPr/>
          <p:nvPr/>
        </p:nvSpPr>
        <p:spPr>
          <a:xfrm>
            <a:off x="9700260"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17" name="Shape 215"/>
          <p:cNvSpPr/>
          <p:nvPr/>
        </p:nvSpPr>
        <p:spPr>
          <a:xfrm>
            <a:off x="9976104"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18" name="Shape 216"/>
          <p:cNvSpPr/>
          <p:nvPr/>
        </p:nvSpPr>
        <p:spPr>
          <a:xfrm>
            <a:off x="10251948" y="4818888"/>
            <a:ext cx="275844" cy="315468"/>
          </a:xfrm>
          <a:prstGeom prst="rect">
            <a:avLst/>
          </a:prstGeom>
          <a:solidFill>
            <a:srgbClr val="F0F3F5"/>
          </a:solidFill>
          <a:ln w="5080">
            <a:solidFill>
              <a:srgbClr val="F0F3F5"/>
            </a:solidFill>
            <a:prstDash val="solid"/>
          </a:ln>
        </p:spPr>
        <p:txBody>
          <a:bodyPr/>
          <a:lstStyle/>
          <a:p>
            <a:endParaRPr lang="fr-FR"/>
          </a:p>
        </p:txBody>
      </p:sp>
      <p:sp>
        <p:nvSpPr>
          <p:cNvPr id="219" name="Shape 217"/>
          <p:cNvSpPr/>
          <p:nvPr/>
        </p:nvSpPr>
        <p:spPr>
          <a:xfrm>
            <a:off x="11079480" y="4818888"/>
            <a:ext cx="275844" cy="315468"/>
          </a:xfrm>
          <a:prstGeom prst="rect">
            <a:avLst/>
          </a:prstGeom>
          <a:solidFill>
            <a:srgbClr val="203847"/>
          </a:solidFill>
          <a:ln w="5080">
            <a:solidFill>
              <a:srgbClr val="FFFFFF"/>
            </a:solidFill>
            <a:prstDash val="solid"/>
          </a:ln>
        </p:spPr>
        <p:txBody>
          <a:bodyPr/>
          <a:lstStyle/>
          <a:p>
            <a:endParaRPr lang="fr-FR"/>
          </a:p>
        </p:txBody>
      </p:sp>
      <p:sp>
        <p:nvSpPr>
          <p:cNvPr id="220" name="Text 218"/>
          <p:cNvSpPr/>
          <p:nvPr/>
        </p:nvSpPr>
        <p:spPr>
          <a:xfrm>
            <a:off x="11079480" y="4846320"/>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21" name="Shape 219"/>
          <p:cNvSpPr/>
          <p:nvPr/>
        </p:nvSpPr>
        <p:spPr>
          <a:xfrm>
            <a:off x="11355324" y="4818888"/>
            <a:ext cx="275844" cy="315468"/>
          </a:xfrm>
          <a:prstGeom prst="rect">
            <a:avLst/>
          </a:prstGeom>
          <a:solidFill>
            <a:srgbClr val="203847"/>
          </a:solidFill>
          <a:ln w="5080">
            <a:solidFill>
              <a:srgbClr val="FFFFFF"/>
            </a:solidFill>
            <a:prstDash val="solid"/>
          </a:ln>
        </p:spPr>
        <p:txBody>
          <a:bodyPr/>
          <a:lstStyle/>
          <a:p>
            <a:endParaRPr lang="fr-FR"/>
          </a:p>
        </p:txBody>
      </p:sp>
      <p:sp>
        <p:nvSpPr>
          <p:cNvPr id="222" name="Text 220"/>
          <p:cNvSpPr/>
          <p:nvPr/>
        </p:nvSpPr>
        <p:spPr>
          <a:xfrm>
            <a:off x="11355324" y="4846320"/>
            <a:ext cx="275844" cy="260604"/>
          </a:xfrm>
          <a:prstGeom prst="rect">
            <a:avLst/>
          </a:prstGeom>
          <a:noFill/>
          <a:ln/>
        </p:spPr>
        <p:txBody>
          <a:bodyPr wrap="square" lIns="0" tIns="0" rIns="0" bIns="0" rtlCol="0" anchor="ctr">
            <a:normAutofit/>
          </a:bodyPr>
          <a:lstStyle/>
          <a:p>
            <a:pPr marL="0" indent="0" algn="ctr">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23" name="Text 221"/>
          <p:cNvSpPr/>
          <p:nvPr/>
        </p:nvSpPr>
        <p:spPr>
          <a:xfrm>
            <a:off x="603504" y="5289804"/>
            <a:ext cx="10881360" cy="228600"/>
          </a:xfrm>
          <a:prstGeom prst="rect">
            <a:avLst/>
          </a:prstGeom>
          <a:noFill/>
          <a:ln/>
        </p:spPr>
        <p:txBody>
          <a:bodyPr wrap="square" lIns="0" tIns="0" rIns="0" bIns="0" rtlCol="0" anchor="ctr">
            <a:normAutofit/>
          </a:bodyPr>
          <a:lstStyle/>
          <a:p>
            <a:pPr marL="0" indent="0" algn="l">
              <a:buNone/>
            </a:pPr>
            <a:r>
              <a:rPr lang="fr-FR" altLang="en-US" sz="1240" dirty="0">
                <a:solidFill>
                  <a:srgbClr val="5B6770"/>
                </a:solidFill>
                <a:latin typeface="Arial" pitchFamily="34" charset="0"/>
                <a:ea typeface="Arial" pitchFamily="34" charset="-122"/>
                <a:cs typeface="Arial" pitchFamily="34" charset="-120"/>
              </a:rPr>
              <a:t>X : réalisation     P : préparation / pilotage     E : vérification</a:t>
            </a:r>
            <a:endParaRPr lang="fr-FR" sz="1240" dirty="0"/>
          </a:p>
        </p:txBody>
      </p:sp>
      <p:sp>
        <p:nvSpPr>
          <p:cNvPr id="224" name="Shape 222"/>
          <p:cNvSpPr/>
          <p:nvPr/>
        </p:nvSpPr>
        <p:spPr>
          <a:xfrm>
            <a:off x="548640" y="5715000"/>
            <a:ext cx="11082528" cy="466344"/>
          </a:xfrm>
          <a:prstGeom prst="rect">
            <a:avLst/>
          </a:prstGeom>
          <a:solidFill>
            <a:srgbClr val="F0F3F5"/>
          </a:solidFill>
          <a:ln w="5080">
            <a:solidFill>
              <a:srgbClr val="F0F3F5"/>
            </a:solidFill>
            <a:prstDash val="solid"/>
          </a:ln>
        </p:spPr>
        <p:txBody>
          <a:bodyPr/>
          <a:lstStyle/>
          <a:p>
            <a:endParaRPr lang="fr-FR"/>
          </a:p>
        </p:txBody>
      </p:sp>
      <p:sp>
        <p:nvSpPr>
          <p:cNvPr id="225" name="Text 223"/>
          <p:cNvSpPr/>
          <p:nvPr/>
        </p:nvSpPr>
        <p:spPr>
          <a:xfrm>
            <a:off x="694944" y="5769864"/>
            <a:ext cx="10789920" cy="310896"/>
          </a:xfrm>
          <a:prstGeom prst="rect">
            <a:avLst/>
          </a:prstGeom>
          <a:noFill/>
          <a:ln/>
        </p:spPr>
        <p:txBody>
          <a:bodyPr wrap="square" lIns="0" tIns="0" rIns="0" bIns="0" rtlCol="0" anchor="ctr">
            <a:normAutofit/>
          </a:bodyPr>
          <a:lstStyle/>
          <a:p>
            <a:pPr marL="0" indent="0" algn="l">
              <a:buNone/>
            </a:pPr>
            <a:r>
              <a:rPr lang="fr-FR" altLang="en-US" sz="1500" b="1" dirty="0">
                <a:solidFill>
                  <a:srgbClr val="203847"/>
                </a:solidFill>
                <a:latin typeface="Arial" pitchFamily="34" charset="0"/>
                <a:ea typeface="Arial" pitchFamily="34" charset="-122"/>
                <a:cs typeface="Arial" pitchFamily="34" charset="-120"/>
              </a:rPr>
              <a:t>S19-S20 : corrections et non-régression. S21-S22 : recette. S23-S24 : mise en service.</a:t>
            </a:r>
            <a:endParaRPr lang="fr-FR"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txBody>
          <a:bodyPr/>
          <a:lstStyle/>
          <a:p>
            <a:endParaRPr lang="fr-FR"/>
          </a:p>
        </p:txBody>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kern="0" spc="130" dirty="0">
                <a:solidFill>
                  <a:srgbClr val="5B6770"/>
                </a:solidFill>
                <a:latin typeface="Arial" pitchFamily="34" charset="0"/>
                <a:ea typeface="Arial" pitchFamily="34" charset="-122"/>
                <a:cs typeface="Arial" pitchFamily="34" charset="-120"/>
              </a:rPr>
              <a:t>PÉRIMÈTRE ET CONDITIONS DE VALIDATION</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3000" b="1" dirty="0">
                <a:solidFill>
                  <a:srgbClr val="203847"/>
                </a:solidFill>
                <a:latin typeface="Arial" pitchFamily="34" charset="0"/>
                <a:ea typeface="Arial" pitchFamily="34" charset="-122"/>
                <a:cs typeface="Arial" pitchFamily="34" charset="-120"/>
              </a:rPr>
              <a:t>La décision proposée à la direction</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txBody>
          <a:bodyPr/>
          <a:lstStyle/>
          <a:p>
            <a:endParaRPr lang="fr-FR"/>
          </a:p>
        </p:txBody>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900" dirty="0">
                <a:solidFill>
                  <a:srgbClr val="5B6770"/>
                </a:solidFill>
                <a:latin typeface="Arial" pitchFamily="34" charset="0"/>
                <a:ea typeface="Arial" pitchFamily="34" charset="-122"/>
                <a:cs typeface="Arial" pitchFamily="34" charset="-120"/>
              </a:rPr>
              <a:t>Verisure | RGPD-01 | Entretien PDG</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r">
              <a:buNone/>
            </a:pPr>
            <a:r>
              <a:rPr lang="fr-FR" altLang="en-US" sz="1000" dirty="0">
                <a:solidFill>
                  <a:srgbClr val="5B6770"/>
                </a:solidFill>
                <a:latin typeface="Arial" pitchFamily="34" charset="0"/>
                <a:ea typeface="Arial" pitchFamily="34" charset="-122"/>
                <a:cs typeface="Arial" pitchFamily="34" charset="-120"/>
              </a:rPr>
              <a:t>7</a:t>
            </a:r>
            <a:endParaRPr lang="fr-FR" sz="1000" dirty="0"/>
          </a:p>
        </p:txBody>
      </p:sp>
      <p:sp>
        <p:nvSpPr>
          <p:cNvPr id="8" name="Shape 6"/>
          <p:cNvSpPr/>
          <p:nvPr/>
        </p:nvSpPr>
        <p:spPr>
          <a:xfrm>
            <a:off x="594360" y="1764792"/>
            <a:ext cx="594360" cy="310896"/>
          </a:xfrm>
          <a:prstGeom prst="rect">
            <a:avLst/>
          </a:prstGeom>
          <a:solidFill>
            <a:srgbClr val="C52F3C"/>
          </a:solidFill>
          <a:ln w="8890">
            <a:solidFill>
              <a:srgbClr val="C52F3C"/>
            </a:solidFill>
            <a:prstDash val="solid"/>
          </a:ln>
        </p:spPr>
        <p:txBody>
          <a:bodyPr/>
          <a:lstStyle/>
          <a:p>
            <a:endParaRPr lang="fr-FR"/>
          </a:p>
        </p:txBody>
      </p:sp>
      <p:sp>
        <p:nvSpPr>
          <p:cNvPr id="9" name="Text 7"/>
          <p:cNvSpPr/>
          <p:nvPr/>
        </p:nvSpPr>
        <p:spPr>
          <a:xfrm>
            <a:off x="658368" y="1773936"/>
            <a:ext cx="466344"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dirty="0">
                <a:solidFill>
                  <a:srgbClr val="FFFFFF"/>
                </a:solidFill>
                <a:latin typeface="Arial" pitchFamily="34" charset="0"/>
                <a:ea typeface="Arial" pitchFamily="34" charset="-122"/>
                <a:cs typeface="Arial" pitchFamily="34" charset="-120"/>
              </a:rPr>
              <a:t>01</a:t>
            </a:r>
            <a:endParaRPr lang="fr-FR" sz="1100" dirty="0"/>
          </a:p>
        </p:txBody>
      </p:sp>
      <p:sp>
        <p:nvSpPr>
          <p:cNvPr id="10" name="Text 8"/>
          <p:cNvSpPr/>
          <p:nvPr/>
        </p:nvSpPr>
        <p:spPr>
          <a:xfrm>
            <a:off x="1508760" y="1746504"/>
            <a:ext cx="9784080"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500" b="1" dirty="0">
                <a:solidFill>
                  <a:srgbClr val="203847"/>
                </a:solidFill>
                <a:latin typeface="Arial" pitchFamily="34" charset="0"/>
                <a:ea typeface="Arial" pitchFamily="34" charset="-122"/>
                <a:cs typeface="Arial" pitchFamily="34" charset="-120"/>
              </a:rPr>
              <a:t>Valider le cadre</a:t>
            </a:r>
            <a:endParaRPr lang="fr-FR" sz="2500" dirty="0"/>
          </a:p>
        </p:txBody>
      </p:sp>
      <p:sp>
        <p:nvSpPr>
          <p:cNvPr id="11" name="Text 9"/>
          <p:cNvSpPr/>
          <p:nvPr/>
        </p:nvSpPr>
        <p:spPr>
          <a:xfrm>
            <a:off x="1508760" y="2240280"/>
            <a:ext cx="964692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000" dirty="0">
                <a:solidFill>
                  <a:srgbClr val="203847"/>
                </a:solidFill>
                <a:latin typeface="Arial" pitchFamily="34" charset="0"/>
                <a:ea typeface="Arial" pitchFamily="34" charset="-122"/>
                <a:cs typeface="Arial" pitchFamily="34" charset="-120"/>
              </a:rPr>
              <a:t>RGPD-01, 24 semaines et quatre types d’appareils en lecture seule.</a:t>
            </a:r>
            <a:endParaRPr lang="fr-FR" sz="2000" dirty="0"/>
          </a:p>
        </p:txBody>
      </p:sp>
      <p:sp>
        <p:nvSpPr>
          <p:cNvPr id="12" name="Shape 10"/>
          <p:cNvSpPr/>
          <p:nvPr/>
        </p:nvSpPr>
        <p:spPr>
          <a:xfrm>
            <a:off x="594360" y="2871216"/>
            <a:ext cx="594360" cy="310896"/>
          </a:xfrm>
          <a:prstGeom prst="rect">
            <a:avLst/>
          </a:prstGeom>
          <a:solidFill>
            <a:srgbClr val="C52F3C"/>
          </a:solidFill>
          <a:ln w="8890">
            <a:solidFill>
              <a:srgbClr val="C52F3C"/>
            </a:solidFill>
            <a:prstDash val="solid"/>
          </a:ln>
        </p:spPr>
        <p:txBody>
          <a:bodyPr/>
          <a:lstStyle/>
          <a:p>
            <a:endParaRPr lang="fr-FR"/>
          </a:p>
        </p:txBody>
      </p:sp>
      <p:sp>
        <p:nvSpPr>
          <p:cNvPr id="13" name="Text 11"/>
          <p:cNvSpPr/>
          <p:nvPr/>
        </p:nvSpPr>
        <p:spPr>
          <a:xfrm>
            <a:off x="658368" y="2880360"/>
            <a:ext cx="466344"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dirty="0">
                <a:solidFill>
                  <a:srgbClr val="FFFFFF"/>
                </a:solidFill>
                <a:latin typeface="Arial" pitchFamily="34" charset="0"/>
                <a:ea typeface="Arial" pitchFamily="34" charset="-122"/>
                <a:cs typeface="Arial" pitchFamily="34" charset="-120"/>
              </a:rPr>
              <a:t>02</a:t>
            </a:r>
            <a:endParaRPr lang="fr-FR" sz="1100" dirty="0"/>
          </a:p>
        </p:txBody>
      </p:sp>
      <p:sp>
        <p:nvSpPr>
          <p:cNvPr id="14" name="Text 12"/>
          <p:cNvSpPr/>
          <p:nvPr/>
        </p:nvSpPr>
        <p:spPr>
          <a:xfrm>
            <a:off x="1508760" y="2852928"/>
            <a:ext cx="9784080"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500" b="1" dirty="0">
                <a:solidFill>
                  <a:srgbClr val="203847"/>
                </a:solidFill>
                <a:latin typeface="Arial" pitchFamily="34" charset="0"/>
                <a:ea typeface="Arial" pitchFamily="34" charset="-122"/>
                <a:cs typeface="Arial" pitchFamily="34" charset="-120"/>
              </a:rPr>
              <a:t>Lever les dépendances</a:t>
            </a:r>
            <a:endParaRPr lang="fr-FR" sz="2500" dirty="0"/>
          </a:p>
        </p:txBody>
      </p:sp>
      <p:sp>
        <p:nvSpPr>
          <p:cNvPr id="15" name="Text 13"/>
          <p:cNvSpPr/>
          <p:nvPr/>
        </p:nvSpPr>
        <p:spPr>
          <a:xfrm>
            <a:off x="1508760" y="3346704"/>
            <a:ext cx="964692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000" dirty="0">
                <a:solidFill>
                  <a:srgbClr val="203847"/>
                </a:solidFill>
                <a:latin typeface="Arial" pitchFamily="34" charset="0"/>
                <a:ea typeface="Arial" pitchFamily="34" charset="-122"/>
                <a:cs typeface="Arial" pitchFamily="34" charset="-120"/>
              </a:rPr>
              <a:t>Accord API et cadre contractuel avant conception ; accès d’essai pour l’intégration.</a:t>
            </a:r>
            <a:endParaRPr lang="fr-FR" sz="2000" dirty="0"/>
          </a:p>
        </p:txBody>
      </p:sp>
      <p:sp>
        <p:nvSpPr>
          <p:cNvPr id="16" name="Shape 14"/>
          <p:cNvSpPr/>
          <p:nvPr/>
        </p:nvSpPr>
        <p:spPr>
          <a:xfrm>
            <a:off x="594360" y="3977640"/>
            <a:ext cx="594360" cy="310896"/>
          </a:xfrm>
          <a:prstGeom prst="rect">
            <a:avLst/>
          </a:prstGeom>
          <a:solidFill>
            <a:srgbClr val="C52F3C"/>
          </a:solidFill>
          <a:ln w="8890">
            <a:solidFill>
              <a:srgbClr val="C52F3C"/>
            </a:solidFill>
            <a:prstDash val="solid"/>
          </a:ln>
        </p:spPr>
        <p:txBody>
          <a:bodyPr/>
          <a:lstStyle/>
          <a:p>
            <a:endParaRPr lang="fr-FR"/>
          </a:p>
        </p:txBody>
      </p:sp>
      <p:sp>
        <p:nvSpPr>
          <p:cNvPr id="17" name="Text 15"/>
          <p:cNvSpPr/>
          <p:nvPr/>
        </p:nvSpPr>
        <p:spPr>
          <a:xfrm>
            <a:off x="658368" y="3986784"/>
            <a:ext cx="466344"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100" b="1" dirty="0">
                <a:solidFill>
                  <a:srgbClr val="FFFFFF"/>
                </a:solidFill>
                <a:latin typeface="Arial" pitchFamily="34" charset="0"/>
                <a:ea typeface="Arial" pitchFamily="34" charset="-122"/>
                <a:cs typeface="Arial" pitchFamily="34" charset="-120"/>
              </a:rPr>
              <a:t>03</a:t>
            </a:r>
            <a:endParaRPr lang="fr-FR" sz="1100" dirty="0"/>
          </a:p>
        </p:txBody>
      </p:sp>
      <p:sp>
        <p:nvSpPr>
          <p:cNvPr id="18" name="Text 16"/>
          <p:cNvSpPr/>
          <p:nvPr/>
        </p:nvSpPr>
        <p:spPr>
          <a:xfrm>
            <a:off x="1508760" y="3959352"/>
            <a:ext cx="9784080" cy="3657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500" b="1" dirty="0">
                <a:solidFill>
                  <a:srgbClr val="203847"/>
                </a:solidFill>
                <a:latin typeface="Arial" pitchFamily="34" charset="0"/>
                <a:ea typeface="Arial" pitchFamily="34" charset="-122"/>
                <a:cs typeface="Arial" pitchFamily="34" charset="-120"/>
              </a:rPr>
              <a:t>Exiger des preuves</a:t>
            </a:r>
            <a:endParaRPr lang="fr-FR" sz="2500" dirty="0"/>
          </a:p>
        </p:txBody>
      </p:sp>
      <p:sp>
        <p:nvSpPr>
          <p:cNvPr id="19" name="Text 17"/>
          <p:cNvSpPr/>
          <p:nvPr/>
        </p:nvSpPr>
        <p:spPr>
          <a:xfrm>
            <a:off x="1508760" y="4453128"/>
            <a:ext cx="964692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2000" dirty="0">
                <a:solidFill>
                  <a:srgbClr val="203847"/>
                </a:solidFill>
                <a:latin typeface="Arial" pitchFamily="34" charset="0"/>
                <a:ea typeface="Arial" pitchFamily="34" charset="-122"/>
                <a:cs typeface="Arial" pitchFamily="34" charset="-120"/>
              </a:rPr>
              <a:t>Huit tests de référence, une revue RGPD et une recette avant mise en service.</a:t>
            </a:r>
            <a:endParaRPr lang="fr-FR" sz="2000" dirty="0"/>
          </a:p>
        </p:txBody>
      </p:sp>
      <p:sp>
        <p:nvSpPr>
          <p:cNvPr id="20" name="Shape 18"/>
          <p:cNvSpPr/>
          <p:nvPr/>
        </p:nvSpPr>
        <p:spPr>
          <a:xfrm>
            <a:off x="548640" y="5449824"/>
            <a:ext cx="11082528" cy="676656"/>
          </a:xfrm>
          <a:prstGeom prst="rect">
            <a:avLst/>
          </a:prstGeom>
          <a:solidFill>
            <a:srgbClr val="F0F3F5"/>
          </a:solidFill>
          <a:ln w="8890">
            <a:solidFill>
              <a:srgbClr val="F0F3F5"/>
            </a:solidFill>
            <a:prstDash val="solid"/>
          </a:ln>
        </p:spPr>
        <p:txBody>
          <a:bodyPr/>
          <a:lstStyle/>
          <a:p>
            <a:endParaRPr lang="fr-FR"/>
          </a:p>
        </p:txBody>
      </p:sp>
      <p:sp>
        <p:nvSpPr>
          <p:cNvPr id="21" name="Text 19"/>
          <p:cNvSpPr/>
          <p:nvPr/>
        </p:nvSpPr>
        <p:spPr>
          <a:xfrm>
            <a:off x="740664" y="5522976"/>
            <a:ext cx="20574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b="1" dirty="0">
                <a:solidFill>
                  <a:srgbClr val="C52F3C"/>
                </a:solidFill>
                <a:latin typeface="Arial" pitchFamily="34" charset="0"/>
                <a:ea typeface="Arial" pitchFamily="34" charset="-122"/>
                <a:cs typeface="Arial" pitchFamily="34" charset="-120"/>
              </a:rPr>
              <a:t>Point d'arrêt</a:t>
            </a:r>
            <a:endParaRPr lang="fr-FR" sz="1700" dirty="0"/>
          </a:p>
        </p:txBody>
      </p:sp>
      <p:sp>
        <p:nvSpPr>
          <p:cNvPr id="22" name="Text 20"/>
          <p:cNvSpPr/>
          <p:nvPr/>
        </p:nvSpPr>
        <p:spPr>
          <a:xfrm>
            <a:off x="2926080" y="5522976"/>
            <a:ext cx="84582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l">
              <a:buNone/>
            </a:pPr>
            <a:r>
              <a:rPr lang="fr-FR" altLang="en-US" sz="1700" dirty="0">
                <a:solidFill>
                  <a:srgbClr val="203847"/>
                </a:solidFill>
                <a:latin typeface="Arial" pitchFamily="34" charset="0"/>
                <a:ea typeface="Arial" pitchFamily="34" charset="-122"/>
                <a:cs typeface="Arial" pitchFamily="34" charset="-120"/>
              </a:rPr>
              <a:t>Une fuite entre foyers ou un défaut de sécurité bloque la recette.</a:t>
            </a:r>
            <a:endParaRPr lang="fr-FR"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1696</Words>
  <Application>Microsoft Office PowerPoint</Application>
  <PresentationFormat>Grand écran</PresentationFormat>
  <Paragraphs>217</Paragraphs>
  <Slides>7</Slides>
  <Notes>7</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7</vt:i4>
      </vt:variant>
    </vt:vector>
  </HeadingPairs>
  <TitlesOfParts>
    <vt:vector size="9" baseType="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Entretien avec le PDG</dc:title>
  <dc:subject>Verisure - Exigence RGPD-01</dc:subject>
  <dc:creator/>
  <cp:lastModifiedBy>Baptiste Appriou</cp:lastModifiedBy>
  <cp:revision>2</cp:revision>
  <dcterms:created xsi:type="dcterms:W3CDTF">2026-09-13T09:19:16Z</dcterms:created>
  <dcterms:modified xsi:type="dcterms:W3CDTF">2026-09-14T07:18:59Z</dcterms:modified>
</cp:coreProperties>
</file>